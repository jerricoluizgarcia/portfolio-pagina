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Mijn prototype heet het Repair Balance Board. Het is een installatie die één vraag stelt: wie beslist eigenlijk wat goede zorg voor een apparaat is? Niet jij — het apparaat zelf. Ik laat jullie dat zien aan de hand van drie scenario's.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 apparaten. Drie verschillende merken. Maar hetzelfde gedrag: het apparaat geeft een waarschuwing of blokkeert iets — nog voordat jij als gebruiker ook maar één keuze hebt gemaakt. Een printer die zegt dat de cartridge leeg is terwijl dat niet zo is. Een iPhone die een third-party scherm afkeurt. Een laptop die 'incompatibel' is met Windows 11 terwijl hij gewoon werkt.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mijn prototype zijn er altijd vier actoren tegelijk aanwezig. De gebruiker die wil dat het werkt. Het Repair Café dat praktische kennis heeft. De fabrikant die de regels bepaalt. En het apparaat zelf — dat via software beslissingen afdwingt. Het bijzondere is: het apparaat is geen neutrale partij. Het is een actor die actief zijde kiest.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 werkt het prototype. Stap één: het apparaat geeft al een signaal voordat de bezoeker kiest. Stap twee: de bezoeker kiest een kaart. Stap drie: de meters van alle vier de actoren reageren zichtbaar. Stap vier — en dat is de kern — er is nooit een groene uitkomst voor iedereen tegelijk. Altijd iemand die verliest.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reactietabel voor scenario één. Als je het refill-patroon kiest: gebruiker blij, Repair Café blij, fabrikant boos — en de printer geeft een foutmelding. Het apparaat weigert de keuze die jij hebt gemaakt. Dit patroon zie je in alle drie de scenario's terug.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drie scenario's ziet de bezoeker het patroon. Het is niet toevallig dat één apparaat zich zo gedraagt — het is een systematisch ontwerp. Dit is de discussie die mijn prototype wil starten: niet 'hoe los je het op' maar 'wie heeft hier eigenlijk de macht gegeven aan het apparaat?' [~45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Mijn prototype geeft geen antwoord. Dat is de opzet. De bezoeker verlaat de installatie met een gevoel van ongemak — en dat is precies de bedoeling. Want de vraag 'wie beslist wat goede zorg voor een apparaat is' heeft geen makkelijk antwoord. Maar het is wel een vraag die we moeten stellen. Dank jullie wel.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94560"/>
          </a:solidFill>
          <a:ln w="12700">
            <a:solidFill>
              <a:srgbClr val="E94560"/>
            </a:solidFill>
            <a:prstDash val="solid"/>
          </a:ln>
        </p:spPr>
      </p:sp>
      <p:sp>
        <p:nvSpPr>
          <p:cNvPr id="3" name="Shape 1"/>
          <p:cNvSpPr/>
          <p:nvPr/>
        </p:nvSpPr>
        <p:spPr>
          <a:xfrm>
            <a:off x="274320" y="274320"/>
            <a:ext cx="8686800" cy="0"/>
          </a:xfrm>
          <a:prstGeom prst="line">
            <a:avLst/>
          </a:prstGeom>
          <a:noFill/>
          <a:ln w="3810">
            <a:solidFill>
              <a:srgbClr val="FFFFFF">
                <a:alpha val="12000"/>
              </a:srgbClr>
            </a:solidFill>
            <a:prstDash val="solid"/>
          </a:ln>
        </p:spPr>
      </p:sp>
      <p:sp>
        <p:nvSpPr>
          <p:cNvPr id="4" name="Shape 2"/>
          <p:cNvSpPr/>
          <p:nvPr/>
        </p:nvSpPr>
        <p:spPr>
          <a:xfrm>
            <a:off x="274320" y="914400"/>
            <a:ext cx="8686800" cy="0"/>
          </a:xfrm>
          <a:prstGeom prst="line">
            <a:avLst/>
          </a:prstGeom>
          <a:noFill/>
          <a:ln w="3810">
            <a:solidFill>
              <a:srgbClr val="FFFFFF">
                <a:alpha val="12000"/>
              </a:srgbClr>
            </a:solidFill>
            <a:prstDash val="solid"/>
          </a:ln>
        </p:spPr>
      </p:sp>
      <p:sp>
        <p:nvSpPr>
          <p:cNvPr id="5" name="Shape 3"/>
          <p:cNvSpPr/>
          <p:nvPr/>
        </p:nvSpPr>
        <p:spPr>
          <a:xfrm>
            <a:off x="274320" y="1554480"/>
            <a:ext cx="8686800" cy="0"/>
          </a:xfrm>
          <a:prstGeom prst="line">
            <a:avLst/>
          </a:prstGeom>
          <a:noFill/>
          <a:ln w="3810">
            <a:solidFill>
              <a:srgbClr val="FFFFFF">
                <a:alpha val="12000"/>
              </a:srgbClr>
            </a:solidFill>
            <a:prstDash val="solid"/>
          </a:ln>
        </p:spPr>
      </p:sp>
      <p:sp>
        <p:nvSpPr>
          <p:cNvPr id="6" name="Shape 4"/>
          <p:cNvSpPr/>
          <p:nvPr/>
        </p:nvSpPr>
        <p:spPr>
          <a:xfrm>
            <a:off x="274320" y="2194560"/>
            <a:ext cx="8686800" cy="0"/>
          </a:xfrm>
          <a:prstGeom prst="line">
            <a:avLst/>
          </a:prstGeom>
          <a:noFill/>
          <a:ln w="3810">
            <a:solidFill>
              <a:srgbClr val="FFFFFF">
                <a:alpha val="12000"/>
              </a:srgbClr>
            </a:solidFill>
            <a:prstDash val="solid"/>
          </a:ln>
        </p:spPr>
      </p:sp>
      <p:sp>
        <p:nvSpPr>
          <p:cNvPr id="7" name="Shape 5"/>
          <p:cNvSpPr/>
          <p:nvPr/>
        </p:nvSpPr>
        <p:spPr>
          <a:xfrm>
            <a:off x="274320" y="2834640"/>
            <a:ext cx="8686800" cy="0"/>
          </a:xfrm>
          <a:prstGeom prst="line">
            <a:avLst/>
          </a:prstGeom>
          <a:noFill/>
          <a:ln w="3810">
            <a:solidFill>
              <a:srgbClr val="FFFFFF">
                <a:alpha val="12000"/>
              </a:srgbClr>
            </a:solidFill>
            <a:prstDash val="solid"/>
          </a:ln>
        </p:spPr>
      </p:sp>
      <p:sp>
        <p:nvSpPr>
          <p:cNvPr id="8" name="Shape 6"/>
          <p:cNvSpPr/>
          <p:nvPr/>
        </p:nvSpPr>
        <p:spPr>
          <a:xfrm>
            <a:off x="274320" y="3474720"/>
            <a:ext cx="8686800" cy="0"/>
          </a:xfrm>
          <a:prstGeom prst="line">
            <a:avLst/>
          </a:prstGeom>
          <a:noFill/>
          <a:ln w="3810">
            <a:solidFill>
              <a:srgbClr val="FFFFFF">
                <a:alpha val="12000"/>
              </a:srgbClr>
            </a:solidFill>
            <a:prstDash val="solid"/>
          </a:ln>
        </p:spPr>
      </p:sp>
      <p:sp>
        <p:nvSpPr>
          <p:cNvPr id="9" name="Shape 7"/>
          <p:cNvSpPr/>
          <p:nvPr/>
        </p:nvSpPr>
        <p:spPr>
          <a:xfrm>
            <a:off x="274320" y="4114800"/>
            <a:ext cx="8686800" cy="0"/>
          </a:xfrm>
          <a:prstGeom prst="line">
            <a:avLst/>
          </a:prstGeom>
          <a:noFill/>
          <a:ln w="3810">
            <a:solidFill>
              <a:srgbClr val="FFFFFF">
                <a:alpha val="12000"/>
              </a:srgbClr>
            </a:solidFill>
            <a:prstDash val="solid"/>
          </a:ln>
        </p:spPr>
      </p:sp>
      <p:sp>
        <p:nvSpPr>
          <p:cNvPr id="10" name="Shape 8"/>
          <p:cNvSpPr/>
          <p:nvPr/>
        </p:nvSpPr>
        <p:spPr>
          <a:xfrm>
            <a:off x="274320" y="4754880"/>
            <a:ext cx="8686800" cy="0"/>
          </a:xfrm>
          <a:prstGeom prst="line">
            <a:avLst/>
          </a:prstGeom>
          <a:noFill/>
          <a:ln w="3810">
            <a:solidFill>
              <a:srgbClr val="FFFFFF">
                <a:alpha val="12000"/>
              </a:srgbClr>
            </a:solidFill>
            <a:prstDash val="solid"/>
          </a:ln>
        </p:spPr>
      </p:sp>
      <p:sp>
        <p:nvSpPr>
          <p:cNvPr id="11" name="Text 9"/>
          <p:cNvSpPr/>
          <p:nvPr/>
        </p:nvSpPr>
        <p:spPr>
          <a:xfrm>
            <a:off x="365760" y="1280160"/>
            <a:ext cx="8412480" cy="914400"/>
          </a:xfrm>
          <a:prstGeom prst="rect">
            <a:avLst/>
          </a:prstGeom>
          <a:noFill/>
          <a:ln/>
        </p:spPr>
        <p:txBody>
          <a:bodyPr wrap="square" lIns="0" tIns="0" rIns="0" bIns="0" rtlCol="0" anchor="ctr"/>
          <a:lstStyle/>
          <a:p>
            <a:pPr indent="0" marL="0">
              <a:buNone/>
            </a:pPr>
            <a:r>
              <a:rPr lang="en-US" sz="4200" b="1" spc="200" kern="0" dirty="0">
                <a:solidFill>
                  <a:srgbClr val="FFFFFF"/>
                </a:solidFill>
                <a:latin typeface="Arial Black" pitchFamily="34" charset="0"/>
                <a:ea typeface="Arial Black" pitchFamily="34" charset="-122"/>
                <a:cs typeface="Arial Black" pitchFamily="34" charset="-120"/>
              </a:rPr>
              <a:t>REPAIR BALANCE BOARD</a:t>
            </a:r>
            <a:endParaRPr lang="en-US" sz="4200" dirty="0"/>
          </a:p>
        </p:txBody>
      </p:sp>
      <p:sp>
        <p:nvSpPr>
          <p:cNvPr id="12" name="Shape 10"/>
          <p:cNvSpPr/>
          <p:nvPr/>
        </p:nvSpPr>
        <p:spPr>
          <a:xfrm>
            <a:off x="365760" y="2240280"/>
            <a:ext cx="3840480" cy="50292"/>
          </a:xfrm>
          <a:prstGeom prst="rect">
            <a:avLst/>
          </a:prstGeom>
          <a:solidFill>
            <a:srgbClr val="E94560"/>
          </a:solidFill>
          <a:ln w="12700">
            <a:solidFill>
              <a:srgbClr val="E94560"/>
            </a:solidFill>
            <a:prstDash val="solid"/>
          </a:ln>
        </p:spPr>
      </p:sp>
      <p:sp>
        <p:nvSpPr>
          <p:cNvPr id="13" name="Text 11"/>
          <p:cNvSpPr/>
          <p:nvPr/>
        </p:nvSpPr>
        <p:spPr>
          <a:xfrm>
            <a:off x="365760" y="2377440"/>
            <a:ext cx="7315200" cy="548640"/>
          </a:xfrm>
          <a:prstGeom prst="rect">
            <a:avLst/>
          </a:prstGeom>
          <a:noFill/>
          <a:ln/>
        </p:spPr>
        <p:txBody>
          <a:bodyPr wrap="square" lIns="0" tIns="0" rIns="0" bIns="0" rtlCol="0" anchor="ctr"/>
          <a:lstStyle/>
          <a:p>
            <a:pPr indent="0" marL="0">
              <a:buNone/>
            </a:pPr>
            <a:r>
              <a:rPr lang="en-US" sz="1800" i="1" dirty="0">
                <a:solidFill>
                  <a:srgbClr val="A0A0B0"/>
                </a:solidFill>
                <a:latin typeface="Calibri" pitchFamily="34" charset="0"/>
                <a:ea typeface="Calibri" pitchFamily="34" charset="-122"/>
                <a:cs typeface="Calibri" pitchFamily="34" charset="-120"/>
              </a:rPr>
              <a:t>Wie beslist wat goede zorg voor een apparaat is?</a:t>
            </a:r>
            <a:endParaRPr lang="en-US" sz="1800" dirty="0"/>
          </a:p>
        </p:txBody>
      </p:sp>
      <p:sp>
        <p:nvSpPr>
          <p:cNvPr id="14" name="Text 12"/>
          <p:cNvSpPr/>
          <p:nvPr/>
        </p:nvSpPr>
        <p:spPr>
          <a:xfrm>
            <a:off x="365760" y="4572000"/>
            <a:ext cx="5486400" cy="365760"/>
          </a:xfrm>
          <a:prstGeom prst="rect">
            <a:avLst/>
          </a:prstGeom>
          <a:noFill/>
          <a:ln/>
        </p:spPr>
        <p:txBody>
          <a:bodyPr wrap="square" lIns="0" tIns="0" rIns="0" bIns="0" rtlCol="0" anchor="ctr"/>
          <a:lstStyle/>
          <a:p>
            <a:pPr indent="0" marL="0">
              <a:buNone/>
            </a:pPr>
            <a:r>
              <a:rPr lang="en-US" sz="1300" dirty="0">
                <a:solidFill>
                  <a:srgbClr val="A0A0B0"/>
                </a:solidFill>
                <a:latin typeface="Calibri" pitchFamily="34" charset="0"/>
                <a:ea typeface="Calibri" pitchFamily="34" charset="-122"/>
                <a:cs typeface="Calibri" pitchFamily="34" charset="-120"/>
              </a:rPr>
              <a:t>Jerri  ·  Repairability &amp; Trust</a:t>
            </a:r>
            <a:endParaRPr lang="en-US" sz="1300" dirty="0"/>
          </a:p>
        </p:txBody>
      </p:sp>
      <p:sp>
        <p:nvSpPr>
          <p:cNvPr id="15" name="Text 13"/>
          <p:cNvSpPr/>
          <p:nvPr/>
        </p:nvSpPr>
        <p:spPr>
          <a:xfrm>
            <a:off x="5943600" y="1371600"/>
            <a:ext cx="2926080" cy="2286000"/>
          </a:xfrm>
          <a:prstGeom prst="rect">
            <a:avLst/>
          </a:prstGeom>
          <a:noFill/>
          <a:ln/>
        </p:spPr>
        <p:txBody>
          <a:bodyPr wrap="square" lIns="0" tIns="0" rIns="0" bIns="0" rtlCol="0" anchor="ctr"/>
          <a:lstStyle/>
          <a:p>
            <a:pPr algn="ctr" indent="0" marL="0">
              <a:buNone/>
            </a:pPr>
            <a:r>
              <a:rPr lang="en-US" sz="5200" dirty="0">
                <a:solidFill>
                  <a:srgbClr val="000000"/>
                </a:solidFill>
              </a:rPr>
              <a:t>🖨️  📱  💻</a:t>
            </a:r>
            <a:endParaRPr lang="en-US" sz="5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Text 1"/>
          <p:cNvSpPr/>
          <p:nvPr/>
        </p:nvSpPr>
        <p:spPr>
          <a:xfrm>
            <a:off x="274320" y="73152"/>
            <a:ext cx="8229600" cy="365760"/>
          </a:xfrm>
          <a:prstGeom prst="rect">
            <a:avLst/>
          </a:prstGeom>
          <a:noFill/>
          <a:ln/>
        </p:spPr>
        <p:txBody>
          <a:bodyPr wrap="square" lIns="0" tIns="0" rIns="0" bIns="0" rtlCol="0" anchor="ctr"/>
          <a:lstStyle/>
          <a:p>
            <a:pPr indent="0" marL="0">
              <a:buNone/>
            </a:pPr>
            <a:r>
              <a:rPr lang="en-US" sz="1300" b="1" spc="300" kern="0" dirty="0">
                <a:solidFill>
                  <a:srgbClr val="FFFFFF"/>
                </a:solidFill>
                <a:latin typeface="Arial" pitchFamily="34" charset="0"/>
                <a:ea typeface="Arial" pitchFamily="34" charset="-122"/>
                <a:cs typeface="Arial" pitchFamily="34" charset="-120"/>
              </a:rPr>
              <a:t>HET PROBLEEM</a:t>
            </a:r>
            <a:endParaRPr lang="en-US" sz="1300" dirty="0"/>
          </a:p>
        </p:txBody>
      </p:sp>
      <p:sp>
        <p:nvSpPr>
          <p:cNvPr id="4" name="Text 2"/>
          <p:cNvSpPr/>
          <p:nvPr/>
        </p:nvSpPr>
        <p:spPr>
          <a:xfrm>
            <a:off x="365760" y="685800"/>
            <a:ext cx="8412480" cy="1371600"/>
          </a:xfrm>
          <a:prstGeom prst="rect">
            <a:avLst/>
          </a:prstGeom>
          <a:noFill/>
          <a:ln/>
        </p:spPr>
        <p:txBody>
          <a:bodyPr wrap="square" lIns="0" tIns="0" rIns="0" bIns="0" rtlCol="0" anchor="ctr"/>
          <a:lstStyle/>
          <a:p>
            <a:pPr indent="0" marL="0">
              <a:buNone/>
            </a:pPr>
            <a:r>
              <a:rPr lang="en-US" sz="3000" b="1" dirty="0">
                <a:solidFill>
                  <a:srgbClr val="1A1A2E"/>
                </a:solidFill>
                <a:latin typeface="Arial Black" pitchFamily="34" charset="0"/>
                <a:ea typeface="Arial Black" pitchFamily="34" charset="-122"/>
                <a:cs typeface="Arial Black" pitchFamily="34" charset="-120"/>
              </a:rPr>
              <a:t>Het apparaat kiest al een kant —</a:t>
            </a:r>
            <a:endParaRPr lang="en-US" sz="3000" dirty="0"/>
          </a:p>
          <a:p>
            <a:pPr indent="0" marL="0">
              <a:buNone/>
            </a:pPr>
            <a:r>
              <a:rPr lang="en-US" sz="3000" b="1" dirty="0">
                <a:solidFill>
                  <a:srgbClr val="1A1A2E"/>
                </a:solidFill>
                <a:latin typeface="Arial Black" pitchFamily="34" charset="0"/>
                <a:ea typeface="Arial Black" pitchFamily="34" charset="-122"/>
                <a:cs typeface="Arial Black" pitchFamily="34" charset="-120"/>
              </a:rPr>
              <a:t>voordat jij iets hebt gedaan.</a:t>
            </a:r>
            <a:endParaRPr lang="en-US" sz="3000" dirty="0"/>
          </a:p>
        </p:txBody>
      </p:sp>
      <p:sp>
        <p:nvSpPr>
          <p:cNvPr id="5" name="Shape 3"/>
          <p:cNvSpPr/>
          <p:nvPr/>
        </p:nvSpPr>
        <p:spPr>
          <a:xfrm>
            <a:off x="320040" y="2240280"/>
            <a:ext cx="2651760" cy="2331720"/>
          </a:xfrm>
          <a:prstGeom prst="rect">
            <a:avLst/>
          </a:prstGeom>
          <a:solidFill>
            <a:srgbClr val="FDECEA"/>
          </a:solidFill>
          <a:ln w="25400">
            <a:solidFill>
              <a:srgbClr val="E74C3C"/>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320040" y="2286000"/>
            <a:ext cx="2651760" cy="6400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7" name="Shape 5"/>
          <p:cNvSpPr/>
          <p:nvPr/>
        </p:nvSpPr>
        <p:spPr>
          <a:xfrm>
            <a:off x="320040" y="2944368"/>
            <a:ext cx="2651760" cy="36576"/>
          </a:xfrm>
          <a:prstGeom prst="rect">
            <a:avLst/>
          </a:prstGeom>
          <a:solidFill>
            <a:srgbClr val="E74C3C"/>
          </a:solidFill>
          <a:ln w="12700">
            <a:solidFill>
              <a:srgbClr val="E74C3C"/>
            </a:solidFill>
            <a:prstDash val="solid"/>
          </a:ln>
        </p:spPr>
      </p:sp>
      <p:sp>
        <p:nvSpPr>
          <p:cNvPr id="8" name="Text 6"/>
          <p:cNvSpPr/>
          <p:nvPr/>
        </p:nvSpPr>
        <p:spPr>
          <a:xfrm>
            <a:off x="411480" y="3017520"/>
            <a:ext cx="2468880" cy="1371600"/>
          </a:xfrm>
          <a:prstGeom prst="rect">
            <a:avLst/>
          </a:prstGeom>
          <a:noFill/>
          <a:ln/>
        </p:spPr>
        <p:txBody>
          <a:bodyPr wrap="square" lIns="0" tIns="0" rIns="0" bIns="0" rtlCol="0" anchor="t"/>
          <a:lstStyle/>
          <a:p>
            <a:pPr algn="l" indent="0" marL="0">
              <a:buNone/>
            </a:pPr>
            <a:r>
              <a:rPr lang="en-US" sz="1300" b="1" dirty="0">
                <a:solidFill>
                  <a:srgbClr val="E74C3C"/>
                </a:solidFill>
                <a:latin typeface="Calibri" pitchFamily="34" charset="0"/>
                <a:ea typeface="Calibri" pitchFamily="34" charset="-122"/>
                <a:cs typeface="Calibri" pitchFamily="34" charset="-120"/>
              </a:rPr>
              <a:t>⚠️  "Cartridge leeg —</a:t>
            </a:r>
            <a:endParaRPr lang="en-US" sz="1300" dirty="0"/>
          </a:p>
          <a:p>
            <a:pPr algn="l" indent="0" marL="0">
              <a:buNone/>
            </a:pPr>
            <a:r>
              <a:rPr lang="en-US" sz="1300" b="1" dirty="0">
                <a:solidFill>
                  <a:srgbClr val="E74C3C"/>
                </a:solidFill>
                <a:latin typeface="Calibri" pitchFamily="34" charset="0"/>
                <a:ea typeface="Calibri" pitchFamily="34" charset="-122"/>
                <a:cs typeface="Calibri" pitchFamily="34" charset="-120"/>
              </a:rPr>
              <a:t>vervang nu"</a:t>
            </a:r>
            <a:endParaRPr lang="en-US" sz="1300" dirty="0"/>
          </a:p>
        </p:txBody>
      </p:sp>
      <p:sp>
        <p:nvSpPr>
          <p:cNvPr id="9" name="Shape 7"/>
          <p:cNvSpPr/>
          <p:nvPr/>
        </p:nvSpPr>
        <p:spPr>
          <a:xfrm>
            <a:off x="3200400" y="2240280"/>
            <a:ext cx="2651760" cy="2331720"/>
          </a:xfrm>
          <a:prstGeom prst="rect">
            <a:avLst/>
          </a:prstGeom>
          <a:solidFill>
            <a:srgbClr val="FDECEA"/>
          </a:solidFill>
          <a:ln w="25400">
            <a:solidFill>
              <a:srgbClr val="E74C3C"/>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3200400" y="2286000"/>
            <a:ext cx="2651760" cy="6400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1" name="Shape 9"/>
          <p:cNvSpPr/>
          <p:nvPr/>
        </p:nvSpPr>
        <p:spPr>
          <a:xfrm>
            <a:off x="3200400" y="2944368"/>
            <a:ext cx="2651760" cy="36576"/>
          </a:xfrm>
          <a:prstGeom prst="rect">
            <a:avLst/>
          </a:prstGeom>
          <a:solidFill>
            <a:srgbClr val="E74C3C"/>
          </a:solidFill>
          <a:ln w="12700">
            <a:solidFill>
              <a:srgbClr val="E74C3C"/>
            </a:solidFill>
            <a:prstDash val="solid"/>
          </a:ln>
        </p:spPr>
      </p:sp>
      <p:sp>
        <p:nvSpPr>
          <p:cNvPr id="12" name="Text 10"/>
          <p:cNvSpPr/>
          <p:nvPr/>
        </p:nvSpPr>
        <p:spPr>
          <a:xfrm>
            <a:off x="3291840" y="3017520"/>
            <a:ext cx="2468880" cy="1371600"/>
          </a:xfrm>
          <a:prstGeom prst="rect">
            <a:avLst/>
          </a:prstGeom>
          <a:noFill/>
          <a:ln/>
        </p:spPr>
        <p:txBody>
          <a:bodyPr wrap="square" lIns="0" tIns="0" rIns="0" bIns="0" rtlCol="0" anchor="t"/>
          <a:lstStyle/>
          <a:p>
            <a:pPr algn="l" indent="0" marL="0">
              <a:buNone/>
            </a:pPr>
            <a:r>
              <a:rPr lang="en-US" sz="1300" b="1" dirty="0">
                <a:solidFill>
                  <a:srgbClr val="E74C3C"/>
                </a:solidFill>
                <a:latin typeface="Calibri" pitchFamily="34" charset="0"/>
                <a:ea typeface="Calibri" pitchFamily="34" charset="-122"/>
                <a:cs typeface="Calibri" pitchFamily="34" charset="-120"/>
              </a:rPr>
              <a:t>⚠️  "Onbekend onderdeel</a:t>
            </a:r>
            <a:endParaRPr lang="en-US" sz="1300" dirty="0"/>
          </a:p>
          <a:p>
            <a:pPr algn="l" indent="0" marL="0">
              <a:buNone/>
            </a:pPr>
            <a:r>
              <a:rPr lang="en-US" sz="1300" b="1" dirty="0">
                <a:solidFill>
                  <a:srgbClr val="E74C3C"/>
                </a:solidFill>
                <a:latin typeface="Calibri" pitchFamily="34" charset="0"/>
                <a:ea typeface="Calibri" pitchFamily="34" charset="-122"/>
                <a:cs typeface="Calibri" pitchFamily="34" charset="-120"/>
              </a:rPr>
              <a:t>gedetecteerd"</a:t>
            </a:r>
            <a:endParaRPr lang="en-US" sz="1300" dirty="0"/>
          </a:p>
        </p:txBody>
      </p:sp>
      <p:sp>
        <p:nvSpPr>
          <p:cNvPr id="13" name="Shape 11"/>
          <p:cNvSpPr/>
          <p:nvPr/>
        </p:nvSpPr>
        <p:spPr>
          <a:xfrm>
            <a:off x="6080760" y="2240280"/>
            <a:ext cx="2651760" cy="2331720"/>
          </a:xfrm>
          <a:prstGeom prst="rect">
            <a:avLst/>
          </a:prstGeom>
          <a:solidFill>
            <a:srgbClr val="FDECEA"/>
          </a:solidFill>
          <a:ln w="25400">
            <a:solidFill>
              <a:srgbClr val="E74C3C"/>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6080760" y="2286000"/>
            <a:ext cx="2651760" cy="6400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5" name="Shape 13"/>
          <p:cNvSpPr/>
          <p:nvPr/>
        </p:nvSpPr>
        <p:spPr>
          <a:xfrm>
            <a:off x="6080760" y="2944368"/>
            <a:ext cx="2651760" cy="36576"/>
          </a:xfrm>
          <a:prstGeom prst="rect">
            <a:avLst/>
          </a:prstGeom>
          <a:solidFill>
            <a:srgbClr val="E74C3C"/>
          </a:solidFill>
          <a:ln w="12700">
            <a:solidFill>
              <a:srgbClr val="E74C3C"/>
            </a:solidFill>
            <a:prstDash val="solid"/>
          </a:ln>
        </p:spPr>
      </p:sp>
      <p:sp>
        <p:nvSpPr>
          <p:cNvPr id="16" name="Text 14"/>
          <p:cNvSpPr/>
          <p:nvPr/>
        </p:nvSpPr>
        <p:spPr>
          <a:xfrm>
            <a:off x="6172200" y="3017520"/>
            <a:ext cx="2468880" cy="1371600"/>
          </a:xfrm>
          <a:prstGeom prst="rect">
            <a:avLst/>
          </a:prstGeom>
          <a:noFill/>
          <a:ln/>
        </p:spPr>
        <p:txBody>
          <a:bodyPr wrap="square" lIns="0" tIns="0" rIns="0" bIns="0" rtlCol="0" anchor="t"/>
          <a:lstStyle/>
          <a:p>
            <a:pPr algn="l" indent="0" marL="0">
              <a:buNone/>
            </a:pPr>
            <a:r>
              <a:rPr lang="en-US" sz="1300" b="1" dirty="0">
                <a:solidFill>
                  <a:srgbClr val="E74C3C"/>
                </a:solidFill>
                <a:latin typeface="Calibri" pitchFamily="34" charset="0"/>
                <a:ea typeface="Calibri" pitchFamily="34" charset="-122"/>
                <a:cs typeface="Calibri" pitchFamily="34" charset="-120"/>
              </a:rPr>
              <a:t>⚠️  "Voldoet niet aan</a:t>
            </a:r>
            <a:endParaRPr lang="en-US" sz="1300" dirty="0"/>
          </a:p>
          <a:p>
            <a:pPr algn="l" indent="0" marL="0">
              <a:buNone/>
            </a:pPr>
            <a:r>
              <a:rPr lang="en-US" sz="1300" b="1" dirty="0">
                <a:solidFill>
                  <a:srgbClr val="E74C3C"/>
                </a:solidFill>
                <a:latin typeface="Calibri" pitchFamily="34" charset="0"/>
                <a:ea typeface="Calibri" pitchFamily="34" charset="-122"/>
                <a:cs typeface="Calibri" pitchFamily="34" charset="-120"/>
              </a:rPr>
              <a:t>Windows 11 vereisten"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94560"/>
          </a:solidFill>
          <a:ln w="12700">
            <a:solidFill>
              <a:srgbClr val="E94560"/>
            </a:solidFill>
            <a:prstDash val="solid"/>
          </a:ln>
        </p:spPr>
      </p:sp>
      <p:sp>
        <p:nvSpPr>
          <p:cNvPr id="3" name="Text 1"/>
          <p:cNvSpPr/>
          <p:nvPr/>
        </p:nvSpPr>
        <p:spPr>
          <a:xfrm>
            <a:off x="274320" y="73152"/>
            <a:ext cx="8229600" cy="365760"/>
          </a:xfrm>
          <a:prstGeom prst="rect">
            <a:avLst/>
          </a:prstGeom>
          <a:noFill/>
          <a:ln/>
        </p:spPr>
        <p:txBody>
          <a:bodyPr wrap="square" lIns="0" tIns="0" rIns="0" bIns="0" rtlCol="0" anchor="ctr"/>
          <a:lstStyle/>
          <a:p>
            <a:pPr indent="0" marL="0">
              <a:buNone/>
            </a:pPr>
            <a:r>
              <a:rPr lang="en-US" sz="1300" b="1" spc="300" kern="0" dirty="0">
                <a:solidFill>
                  <a:srgbClr val="FFFFFF"/>
                </a:solidFill>
                <a:latin typeface="Arial" pitchFamily="34" charset="0"/>
                <a:ea typeface="Arial" pitchFamily="34" charset="-122"/>
                <a:cs typeface="Arial" pitchFamily="34" charset="-120"/>
              </a:rPr>
              <a:t>DE VIER ACTOREN</a:t>
            </a:r>
            <a:endParaRPr lang="en-US" sz="1300" dirty="0"/>
          </a:p>
        </p:txBody>
      </p:sp>
      <p:sp>
        <p:nvSpPr>
          <p:cNvPr id="4" name="Text 2"/>
          <p:cNvSpPr/>
          <p:nvPr/>
        </p:nvSpPr>
        <p:spPr>
          <a:xfrm>
            <a:off x="365760" y="640080"/>
            <a:ext cx="8412480" cy="548640"/>
          </a:xfrm>
          <a:prstGeom prst="rect">
            <a:avLst/>
          </a:prstGeom>
          <a:noFill/>
          <a:ln/>
        </p:spPr>
        <p:txBody>
          <a:bodyPr wrap="square" lIns="0" tIns="0" rIns="0" bIns="0" rtlCol="0" anchor="ctr"/>
          <a:lstStyle/>
          <a:p>
            <a:pPr indent="0" marL="0">
              <a:buNone/>
            </a:pPr>
            <a:r>
              <a:rPr lang="en-US" sz="1700" i="1" dirty="0">
                <a:solidFill>
                  <a:srgbClr val="A0A0B0"/>
                </a:solidFill>
                <a:latin typeface="Calibri" pitchFamily="34" charset="0"/>
                <a:ea typeface="Calibri" pitchFamily="34" charset="-122"/>
                <a:cs typeface="Calibri" pitchFamily="34" charset="-120"/>
              </a:rPr>
              <a:t>Elk heeft een ander belang. Geen enkele keuze maakt iedereen blij.</a:t>
            </a:r>
            <a:endParaRPr lang="en-US" sz="1700" dirty="0"/>
          </a:p>
        </p:txBody>
      </p:sp>
      <p:sp>
        <p:nvSpPr>
          <p:cNvPr id="5" name="Shape 3"/>
          <p:cNvSpPr/>
          <p:nvPr/>
        </p:nvSpPr>
        <p:spPr>
          <a:xfrm>
            <a:off x="320040" y="1325880"/>
            <a:ext cx="3931920" cy="1508760"/>
          </a:xfrm>
          <a:prstGeom prst="rect">
            <a:avLst/>
          </a:prstGeom>
          <a:solidFill>
            <a:srgbClr val="0F3460"/>
          </a:solidFill>
          <a:ln w="12700">
            <a:solidFill>
              <a:srgbClr val="FFFFFF">
                <a:alpha val="15000"/>
              </a:srgbClr>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20040" y="1325880"/>
            <a:ext cx="73152" cy="1508760"/>
          </a:xfrm>
          <a:prstGeom prst="rect">
            <a:avLst/>
          </a:prstGeom>
          <a:solidFill>
            <a:srgbClr val="E94560"/>
          </a:solidFill>
          <a:ln w="12700">
            <a:solidFill>
              <a:srgbClr val="E94560"/>
            </a:solidFill>
            <a:prstDash val="solid"/>
          </a:ln>
        </p:spPr>
      </p:sp>
      <p:sp>
        <p:nvSpPr>
          <p:cNvPr id="7" name="Text 5"/>
          <p:cNvSpPr/>
          <p:nvPr/>
        </p:nvSpPr>
        <p:spPr>
          <a:xfrm>
            <a:off x="457200" y="1463040"/>
            <a:ext cx="640080" cy="64008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8" name="Text 6"/>
          <p:cNvSpPr/>
          <p:nvPr/>
        </p:nvSpPr>
        <p:spPr>
          <a:xfrm>
            <a:off x="1143000" y="146304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Gebruiker</a:t>
            </a:r>
            <a:endParaRPr lang="en-US" sz="1600" dirty="0"/>
          </a:p>
        </p:txBody>
      </p:sp>
      <p:sp>
        <p:nvSpPr>
          <p:cNvPr id="9" name="Text 7"/>
          <p:cNvSpPr/>
          <p:nvPr/>
        </p:nvSpPr>
        <p:spPr>
          <a:xfrm>
            <a:off x="1143000" y="1874520"/>
            <a:ext cx="2926080" cy="822960"/>
          </a:xfrm>
          <a:prstGeom prst="rect">
            <a:avLst/>
          </a:prstGeom>
          <a:noFill/>
          <a:ln/>
        </p:spPr>
        <p:txBody>
          <a:bodyPr wrap="square" lIns="0" tIns="0" rIns="0" bIns="0" rtlCol="0" anchor="ctr"/>
          <a:lstStyle/>
          <a:p>
            <a:pPr indent="0" marL="0">
              <a:buNone/>
            </a:pPr>
            <a:r>
              <a:rPr lang="en-US" sz="1200" dirty="0">
                <a:solidFill>
                  <a:srgbClr val="A0A0B0"/>
                </a:solidFill>
                <a:latin typeface="Calibri" pitchFamily="34" charset="0"/>
                <a:ea typeface="Calibri" pitchFamily="34" charset="-122"/>
                <a:cs typeface="Calibri" pitchFamily="34" charset="-120"/>
              </a:rPr>
              <a:t>Wil het apparaat werkend houden — zo goedkoop mogelijk.</a:t>
            </a:r>
            <a:endParaRPr lang="en-US" sz="1200" dirty="0"/>
          </a:p>
        </p:txBody>
      </p:sp>
      <p:sp>
        <p:nvSpPr>
          <p:cNvPr id="10" name="Shape 8"/>
          <p:cNvSpPr/>
          <p:nvPr/>
        </p:nvSpPr>
        <p:spPr>
          <a:xfrm>
            <a:off x="4617720" y="1325880"/>
            <a:ext cx="3931920" cy="1508760"/>
          </a:xfrm>
          <a:prstGeom prst="rect">
            <a:avLst/>
          </a:prstGeom>
          <a:solidFill>
            <a:srgbClr val="0F3460"/>
          </a:solidFill>
          <a:ln w="12700">
            <a:solidFill>
              <a:srgbClr val="FFFFFF">
                <a:alpha val="15000"/>
              </a:srgbClr>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617720" y="1325880"/>
            <a:ext cx="73152" cy="1508760"/>
          </a:xfrm>
          <a:prstGeom prst="rect">
            <a:avLst/>
          </a:prstGeom>
          <a:solidFill>
            <a:srgbClr val="E94560"/>
          </a:solidFill>
          <a:ln w="12700">
            <a:solidFill>
              <a:srgbClr val="E94560"/>
            </a:solidFill>
            <a:prstDash val="solid"/>
          </a:ln>
        </p:spPr>
      </p:sp>
      <p:sp>
        <p:nvSpPr>
          <p:cNvPr id="12" name="Text 10"/>
          <p:cNvSpPr/>
          <p:nvPr/>
        </p:nvSpPr>
        <p:spPr>
          <a:xfrm>
            <a:off x="4754880" y="1463040"/>
            <a:ext cx="640080" cy="64008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3" name="Text 11"/>
          <p:cNvSpPr/>
          <p:nvPr/>
        </p:nvSpPr>
        <p:spPr>
          <a:xfrm>
            <a:off x="5440680" y="146304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Repair Café</a:t>
            </a:r>
            <a:endParaRPr lang="en-US" sz="1600" dirty="0"/>
          </a:p>
        </p:txBody>
      </p:sp>
      <p:sp>
        <p:nvSpPr>
          <p:cNvPr id="14" name="Text 12"/>
          <p:cNvSpPr/>
          <p:nvPr/>
        </p:nvSpPr>
        <p:spPr>
          <a:xfrm>
            <a:off x="5440680" y="1874520"/>
            <a:ext cx="2926080" cy="822960"/>
          </a:xfrm>
          <a:prstGeom prst="rect">
            <a:avLst/>
          </a:prstGeom>
          <a:noFill/>
          <a:ln/>
        </p:spPr>
        <p:txBody>
          <a:bodyPr wrap="square" lIns="0" tIns="0" rIns="0" bIns="0" rtlCol="0" anchor="ctr"/>
          <a:lstStyle/>
          <a:p>
            <a:pPr indent="0" marL="0">
              <a:buNone/>
            </a:pPr>
            <a:r>
              <a:rPr lang="en-US" sz="1200" dirty="0">
                <a:solidFill>
                  <a:srgbClr val="A0A0B0"/>
                </a:solidFill>
                <a:latin typeface="Calibri" pitchFamily="34" charset="0"/>
                <a:ea typeface="Calibri" pitchFamily="34" charset="-122"/>
                <a:cs typeface="Calibri" pitchFamily="34" charset="-120"/>
              </a:rPr>
              <a:t>Vertrouwt op ervaringskennis. Ziet het als repareerbaar.</a:t>
            </a:r>
            <a:endParaRPr lang="en-US" sz="1200" dirty="0"/>
          </a:p>
        </p:txBody>
      </p:sp>
      <p:sp>
        <p:nvSpPr>
          <p:cNvPr id="15" name="Shape 13"/>
          <p:cNvSpPr/>
          <p:nvPr/>
        </p:nvSpPr>
        <p:spPr>
          <a:xfrm>
            <a:off x="320040" y="3063240"/>
            <a:ext cx="3931920" cy="1508760"/>
          </a:xfrm>
          <a:prstGeom prst="rect">
            <a:avLst/>
          </a:prstGeom>
          <a:solidFill>
            <a:srgbClr val="0F3460"/>
          </a:solidFill>
          <a:ln w="12700">
            <a:solidFill>
              <a:srgbClr val="FFFFFF">
                <a:alpha val="15000"/>
              </a:srgbClr>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320040" y="3063240"/>
            <a:ext cx="73152" cy="1508760"/>
          </a:xfrm>
          <a:prstGeom prst="rect">
            <a:avLst/>
          </a:prstGeom>
          <a:solidFill>
            <a:srgbClr val="E94560"/>
          </a:solidFill>
          <a:ln w="12700">
            <a:solidFill>
              <a:srgbClr val="E94560"/>
            </a:solidFill>
            <a:prstDash val="solid"/>
          </a:ln>
        </p:spPr>
      </p:sp>
      <p:sp>
        <p:nvSpPr>
          <p:cNvPr id="17" name="Text 15"/>
          <p:cNvSpPr/>
          <p:nvPr/>
        </p:nvSpPr>
        <p:spPr>
          <a:xfrm>
            <a:off x="457200" y="3200400"/>
            <a:ext cx="640080" cy="64008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8" name="Text 16"/>
          <p:cNvSpPr/>
          <p:nvPr/>
        </p:nvSpPr>
        <p:spPr>
          <a:xfrm>
            <a:off x="1143000" y="320040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Fabrikant</a:t>
            </a:r>
            <a:endParaRPr lang="en-US" sz="1600" dirty="0"/>
          </a:p>
        </p:txBody>
      </p:sp>
      <p:sp>
        <p:nvSpPr>
          <p:cNvPr id="19" name="Text 17"/>
          <p:cNvSpPr/>
          <p:nvPr/>
        </p:nvSpPr>
        <p:spPr>
          <a:xfrm>
            <a:off x="1143000" y="3611880"/>
            <a:ext cx="2926080" cy="822960"/>
          </a:xfrm>
          <a:prstGeom prst="rect">
            <a:avLst/>
          </a:prstGeom>
          <a:noFill/>
          <a:ln/>
        </p:spPr>
        <p:txBody>
          <a:bodyPr wrap="square" lIns="0" tIns="0" rIns="0" bIns="0" rtlCol="0" anchor="ctr"/>
          <a:lstStyle/>
          <a:p>
            <a:pPr indent="0" marL="0">
              <a:buNone/>
            </a:pPr>
            <a:r>
              <a:rPr lang="en-US" sz="1200" dirty="0">
                <a:solidFill>
                  <a:srgbClr val="A0A0B0"/>
                </a:solidFill>
                <a:latin typeface="Calibri" pitchFamily="34" charset="0"/>
                <a:ea typeface="Calibri" pitchFamily="34" charset="-122"/>
                <a:cs typeface="Calibri" pitchFamily="34" charset="-120"/>
              </a:rPr>
              <a:t>Bepaalt officiële regels. Profiteert van vervanging.</a:t>
            </a:r>
            <a:endParaRPr lang="en-US" sz="1200" dirty="0"/>
          </a:p>
        </p:txBody>
      </p:sp>
      <p:sp>
        <p:nvSpPr>
          <p:cNvPr id="20" name="Shape 18"/>
          <p:cNvSpPr/>
          <p:nvPr/>
        </p:nvSpPr>
        <p:spPr>
          <a:xfrm>
            <a:off x="4617720" y="3063240"/>
            <a:ext cx="3931920" cy="1508760"/>
          </a:xfrm>
          <a:prstGeom prst="rect">
            <a:avLst/>
          </a:prstGeom>
          <a:solidFill>
            <a:srgbClr val="0F3460"/>
          </a:solidFill>
          <a:ln w="12700">
            <a:solidFill>
              <a:srgbClr val="FFFFFF">
                <a:alpha val="15000"/>
              </a:srgbClr>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4617720" y="3063240"/>
            <a:ext cx="73152" cy="1508760"/>
          </a:xfrm>
          <a:prstGeom prst="rect">
            <a:avLst/>
          </a:prstGeom>
          <a:solidFill>
            <a:srgbClr val="E94560"/>
          </a:solidFill>
          <a:ln w="12700">
            <a:solidFill>
              <a:srgbClr val="E94560"/>
            </a:solidFill>
            <a:prstDash val="solid"/>
          </a:ln>
        </p:spPr>
      </p:sp>
      <p:sp>
        <p:nvSpPr>
          <p:cNvPr id="22" name="Text 20"/>
          <p:cNvSpPr/>
          <p:nvPr/>
        </p:nvSpPr>
        <p:spPr>
          <a:xfrm>
            <a:off x="4754880" y="3200400"/>
            <a:ext cx="640080" cy="64008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23" name="Text 21"/>
          <p:cNvSpPr/>
          <p:nvPr/>
        </p:nvSpPr>
        <p:spPr>
          <a:xfrm>
            <a:off x="5440680" y="3200400"/>
            <a:ext cx="2926080"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Het apparaat</a:t>
            </a:r>
            <a:endParaRPr lang="en-US" sz="1600" dirty="0"/>
          </a:p>
        </p:txBody>
      </p:sp>
      <p:sp>
        <p:nvSpPr>
          <p:cNvPr id="24" name="Text 22"/>
          <p:cNvSpPr/>
          <p:nvPr/>
        </p:nvSpPr>
        <p:spPr>
          <a:xfrm>
            <a:off x="5440680" y="3611880"/>
            <a:ext cx="2926080" cy="822960"/>
          </a:xfrm>
          <a:prstGeom prst="rect">
            <a:avLst/>
          </a:prstGeom>
          <a:noFill/>
          <a:ln/>
        </p:spPr>
        <p:txBody>
          <a:bodyPr wrap="square" lIns="0" tIns="0" rIns="0" bIns="0" rtlCol="0" anchor="ctr"/>
          <a:lstStyle/>
          <a:p>
            <a:pPr indent="0" marL="0">
              <a:buNone/>
            </a:pPr>
            <a:r>
              <a:rPr lang="en-US" sz="1200" dirty="0">
                <a:solidFill>
                  <a:srgbClr val="A0A0B0"/>
                </a:solidFill>
                <a:latin typeface="Calibri" pitchFamily="34" charset="0"/>
                <a:ea typeface="Calibri" pitchFamily="34" charset="-122"/>
                <a:cs typeface="Calibri" pitchFamily="34" charset="-120"/>
              </a:rPr>
              <a:t>Kiest zijde via software — in het belang van de fabrikant.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Text 1"/>
          <p:cNvSpPr/>
          <p:nvPr/>
        </p:nvSpPr>
        <p:spPr>
          <a:xfrm>
            <a:off x="274320" y="73152"/>
            <a:ext cx="8229600" cy="365760"/>
          </a:xfrm>
          <a:prstGeom prst="rect">
            <a:avLst/>
          </a:prstGeom>
          <a:noFill/>
          <a:ln/>
        </p:spPr>
        <p:txBody>
          <a:bodyPr wrap="square" lIns="0" tIns="0" rIns="0" bIns="0" rtlCol="0" anchor="ctr"/>
          <a:lstStyle/>
          <a:p>
            <a:pPr indent="0" marL="0">
              <a:buNone/>
            </a:pPr>
            <a:r>
              <a:rPr lang="en-US" sz="1300" b="1" spc="300" kern="0" dirty="0">
                <a:solidFill>
                  <a:srgbClr val="FFFFFF"/>
                </a:solidFill>
                <a:latin typeface="Arial" pitchFamily="34" charset="0"/>
                <a:ea typeface="Arial" pitchFamily="34" charset="-122"/>
                <a:cs typeface="Arial" pitchFamily="34" charset="-120"/>
              </a:rPr>
              <a:t>HOE HET WERKT</a:t>
            </a:r>
            <a:endParaRPr lang="en-US" sz="1300" dirty="0"/>
          </a:p>
        </p:txBody>
      </p:sp>
      <p:sp>
        <p:nvSpPr>
          <p:cNvPr id="4" name="Shape 2"/>
          <p:cNvSpPr/>
          <p:nvPr/>
        </p:nvSpPr>
        <p:spPr>
          <a:xfrm>
            <a:off x="320040" y="731520"/>
            <a:ext cx="594360" cy="594360"/>
          </a:xfrm>
          <a:prstGeom prst="ellipse">
            <a:avLst/>
          </a:prstGeom>
          <a:solidFill>
            <a:srgbClr val="E94560"/>
          </a:solidFill>
          <a:ln w="12700">
            <a:solidFill>
              <a:srgbClr val="E94560"/>
            </a:solidFill>
            <a:prstDash val="solid"/>
          </a:ln>
        </p:spPr>
      </p:sp>
      <p:sp>
        <p:nvSpPr>
          <p:cNvPr id="5" name="Text 3"/>
          <p:cNvSpPr/>
          <p:nvPr/>
        </p:nvSpPr>
        <p:spPr>
          <a:xfrm>
            <a:off x="320040" y="73152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6" name="Shape 4"/>
          <p:cNvSpPr/>
          <p:nvPr/>
        </p:nvSpPr>
        <p:spPr>
          <a:xfrm>
            <a:off x="621792" y="1344168"/>
            <a:ext cx="0" cy="384048"/>
          </a:xfrm>
          <a:prstGeom prst="line">
            <a:avLst/>
          </a:prstGeom>
          <a:noFill/>
          <a:ln w="25400">
            <a:solidFill>
              <a:srgbClr val="E94560"/>
            </a:solidFill>
            <a:prstDash val="dash"/>
          </a:ln>
        </p:spPr>
      </p:sp>
      <p:sp>
        <p:nvSpPr>
          <p:cNvPr id="7" name="Text 5"/>
          <p:cNvSpPr/>
          <p:nvPr/>
        </p:nvSpPr>
        <p:spPr>
          <a:xfrm>
            <a:off x="1097280" y="704088"/>
            <a:ext cx="5029200" cy="365760"/>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Apparaat geeft al een signaal</a:t>
            </a:r>
            <a:endParaRPr lang="en-US" sz="1600" dirty="0"/>
          </a:p>
        </p:txBody>
      </p:sp>
      <p:sp>
        <p:nvSpPr>
          <p:cNvPr id="8" name="Text 6"/>
          <p:cNvSpPr/>
          <p:nvPr/>
        </p:nvSpPr>
        <p:spPr>
          <a:xfrm>
            <a:off x="1097280" y="1069848"/>
            <a:ext cx="5029200" cy="365760"/>
          </a:xfrm>
          <a:prstGeom prst="rect">
            <a:avLst/>
          </a:prstGeom>
          <a:noFill/>
          <a:ln/>
        </p:spPr>
        <p:txBody>
          <a:bodyPr wrap="square" lIns="0" tIns="0" rIns="0" bIns="0" rtlCol="0" anchor="ctr"/>
          <a:lstStyle/>
          <a:p>
            <a:pPr indent="0" marL="0">
              <a:buNone/>
            </a:pPr>
            <a:r>
              <a:rPr lang="en-US" sz="1300" dirty="0">
                <a:solidFill>
                  <a:srgbClr val="555566"/>
                </a:solidFill>
                <a:latin typeface="Calibri" pitchFamily="34" charset="0"/>
                <a:ea typeface="Calibri" pitchFamily="34" charset="-122"/>
                <a:cs typeface="Calibri" pitchFamily="34" charset="-120"/>
              </a:rPr>
              <a:t>Rood knipperend lampje of ⚠️ waarschuwing — nog voor jij iets kiest.</a:t>
            </a:r>
            <a:endParaRPr lang="en-US" sz="1300" dirty="0"/>
          </a:p>
        </p:txBody>
      </p:sp>
      <p:sp>
        <p:nvSpPr>
          <p:cNvPr id="9" name="Shape 7"/>
          <p:cNvSpPr/>
          <p:nvPr/>
        </p:nvSpPr>
        <p:spPr>
          <a:xfrm>
            <a:off x="320040" y="1737360"/>
            <a:ext cx="594360" cy="594360"/>
          </a:xfrm>
          <a:prstGeom prst="ellipse">
            <a:avLst/>
          </a:prstGeom>
          <a:solidFill>
            <a:srgbClr val="E94560"/>
          </a:solidFill>
          <a:ln w="12700">
            <a:solidFill>
              <a:srgbClr val="E94560"/>
            </a:solidFill>
            <a:prstDash val="solid"/>
          </a:ln>
        </p:spPr>
      </p:sp>
      <p:sp>
        <p:nvSpPr>
          <p:cNvPr id="10" name="Text 8"/>
          <p:cNvSpPr/>
          <p:nvPr/>
        </p:nvSpPr>
        <p:spPr>
          <a:xfrm>
            <a:off x="320040" y="17373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1" name="Shape 9"/>
          <p:cNvSpPr/>
          <p:nvPr/>
        </p:nvSpPr>
        <p:spPr>
          <a:xfrm>
            <a:off x="621792" y="2350008"/>
            <a:ext cx="0" cy="384048"/>
          </a:xfrm>
          <a:prstGeom prst="line">
            <a:avLst/>
          </a:prstGeom>
          <a:noFill/>
          <a:ln w="25400">
            <a:solidFill>
              <a:srgbClr val="E94560"/>
            </a:solidFill>
            <a:prstDash val="dash"/>
          </a:ln>
        </p:spPr>
      </p:sp>
      <p:sp>
        <p:nvSpPr>
          <p:cNvPr id="12" name="Text 10"/>
          <p:cNvSpPr/>
          <p:nvPr/>
        </p:nvSpPr>
        <p:spPr>
          <a:xfrm>
            <a:off x="1097280" y="1709928"/>
            <a:ext cx="5029200" cy="365760"/>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Bezoeker kiest een actiekaart</a:t>
            </a:r>
            <a:endParaRPr lang="en-US" sz="1600" dirty="0"/>
          </a:p>
        </p:txBody>
      </p:sp>
      <p:sp>
        <p:nvSpPr>
          <p:cNvPr id="13" name="Text 11"/>
          <p:cNvSpPr/>
          <p:nvPr/>
        </p:nvSpPr>
        <p:spPr>
          <a:xfrm>
            <a:off x="1097280" y="2075688"/>
            <a:ext cx="5029200" cy="365760"/>
          </a:xfrm>
          <a:prstGeom prst="rect">
            <a:avLst/>
          </a:prstGeom>
          <a:noFill/>
          <a:ln/>
        </p:spPr>
        <p:txBody>
          <a:bodyPr wrap="square" lIns="0" tIns="0" rIns="0" bIns="0" rtlCol="0" anchor="ctr"/>
          <a:lstStyle/>
          <a:p>
            <a:pPr indent="0" marL="0">
              <a:buNone/>
            </a:pPr>
            <a:r>
              <a:rPr lang="en-US" sz="1300" dirty="0">
                <a:solidFill>
                  <a:srgbClr val="555566"/>
                </a:solidFill>
                <a:latin typeface="Calibri" pitchFamily="34" charset="0"/>
                <a:ea typeface="Calibri" pitchFamily="34" charset="-122"/>
                <a:cs typeface="Calibri" pitchFamily="34" charset="-120"/>
              </a:rPr>
              <a:t>Refill-patroon  ·  Officieel onderdeel  ·  Nieuw apparaat</a:t>
            </a:r>
            <a:endParaRPr lang="en-US" sz="1300" dirty="0"/>
          </a:p>
        </p:txBody>
      </p:sp>
      <p:sp>
        <p:nvSpPr>
          <p:cNvPr id="14" name="Shape 12"/>
          <p:cNvSpPr/>
          <p:nvPr/>
        </p:nvSpPr>
        <p:spPr>
          <a:xfrm>
            <a:off x="320040" y="2743200"/>
            <a:ext cx="594360" cy="594360"/>
          </a:xfrm>
          <a:prstGeom prst="ellipse">
            <a:avLst/>
          </a:prstGeom>
          <a:solidFill>
            <a:srgbClr val="E94560"/>
          </a:solidFill>
          <a:ln w="12700">
            <a:solidFill>
              <a:srgbClr val="E94560"/>
            </a:solidFill>
            <a:prstDash val="solid"/>
          </a:ln>
        </p:spPr>
      </p:sp>
      <p:sp>
        <p:nvSpPr>
          <p:cNvPr id="15" name="Text 13"/>
          <p:cNvSpPr/>
          <p:nvPr/>
        </p:nvSpPr>
        <p:spPr>
          <a:xfrm>
            <a:off x="320040" y="274320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16" name="Shape 14"/>
          <p:cNvSpPr/>
          <p:nvPr/>
        </p:nvSpPr>
        <p:spPr>
          <a:xfrm>
            <a:off x="621792" y="3355848"/>
            <a:ext cx="0" cy="384048"/>
          </a:xfrm>
          <a:prstGeom prst="line">
            <a:avLst/>
          </a:prstGeom>
          <a:noFill/>
          <a:ln w="25400">
            <a:solidFill>
              <a:srgbClr val="E94560"/>
            </a:solidFill>
            <a:prstDash val="dash"/>
          </a:ln>
        </p:spPr>
      </p:sp>
      <p:sp>
        <p:nvSpPr>
          <p:cNvPr id="17" name="Text 15"/>
          <p:cNvSpPr/>
          <p:nvPr/>
        </p:nvSpPr>
        <p:spPr>
          <a:xfrm>
            <a:off x="1097280" y="2715768"/>
            <a:ext cx="5029200" cy="365760"/>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Meters van de vier actoren reageren</a:t>
            </a:r>
            <a:endParaRPr lang="en-US" sz="1600" dirty="0"/>
          </a:p>
        </p:txBody>
      </p:sp>
      <p:sp>
        <p:nvSpPr>
          <p:cNvPr id="18" name="Text 16"/>
          <p:cNvSpPr/>
          <p:nvPr/>
        </p:nvSpPr>
        <p:spPr>
          <a:xfrm>
            <a:off x="1097280" y="3081528"/>
            <a:ext cx="5029200" cy="365760"/>
          </a:xfrm>
          <a:prstGeom prst="rect">
            <a:avLst/>
          </a:prstGeom>
          <a:noFill/>
          <a:ln/>
        </p:spPr>
        <p:txBody>
          <a:bodyPr wrap="square" lIns="0" tIns="0" rIns="0" bIns="0" rtlCol="0" anchor="ctr"/>
          <a:lstStyle/>
          <a:p>
            <a:pPr indent="0" marL="0">
              <a:buNone/>
            </a:pPr>
            <a:r>
              <a:rPr lang="en-US" sz="1300" dirty="0">
                <a:solidFill>
                  <a:srgbClr val="555566"/>
                </a:solidFill>
                <a:latin typeface="Calibri" pitchFamily="34" charset="0"/>
                <a:ea typeface="Calibri" pitchFamily="34" charset="-122"/>
                <a:cs typeface="Calibri" pitchFamily="34" charset="-120"/>
              </a:rPr>
              <a:t>🟩 Groen = blij  ·  🟨 Geel = neutraal  ·  🟥 Rood = boos</a:t>
            </a:r>
            <a:endParaRPr lang="en-US" sz="1300" dirty="0"/>
          </a:p>
        </p:txBody>
      </p:sp>
      <p:sp>
        <p:nvSpPr>
          <p:cNvPr id="19" name="Shape 17"/>
          <p:cNvSpPr/>
          <p:nvPr/>
        </p:nvSpPr>
        <p:spPr>
          <a:xfrm>
            <a:off x="320040" y="3749040"/>
            <a:ext cx="594360" cy="594360"/>
          </a:xfrm>
          <a:prstGeom prst="ellipse">
            <a:avLst/>
          </a:prstGeom>
          <a:solidFill>
            <a:srgbClr val="E94560"/>
          </a:solidFill>
          <a:ln w="12700">
            <a:solidFill>
              <a:srgbClr val="E94560"/>
            </a:solidFill>
            <a:prstDash val="solid"/>
          </a:ln>
        </p:spPr>
      </p:sp>
      <p:sp>
        <p:nvSpPr>
          <p:cNvPr id="20" name="Text 18"/>
          <p:cNvSpPr/>
          <p:nvPr/>
        </p:nvSpPr>
        <p:spPr>
          <a:xfrm>
            <a:off x="320040" y="3749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21" name="Text 19"/>
          <p:cNvSpPr/>
          <p:nvPr/>
        </p:nvSpPr>
        <p:spPr>
          <a:xfrm>
            <a:off x="1097280" y="3721608"/>
            <a:ext cx="5029200" cy="365760"/>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Er is nooit een perfecte keuze</a:t>
            </a:r>
            <a:endParaRPr lang="en-US" sz="1600" dirty="0"/>
          </a:p>
        </p:txBody>
      </p:sp>
      <p:sp>
        <p:nvSpPr>
          <p:cNvPr id="22" name="Text 20"/>
          <p:cNvSpPr/>
          <p:nvPr/>
        </p:nvSpPr>
        <p:spPr>
          <a:xfrm>
            <a:off x="1097280" y="4087368"/>
            <a:ext cx="5029200" cy="365760"/>
          </a:xfrm>
          <a:prstGeom prst="rect">
            <a:avLst/>
          </a:prstGeom>
          <a:noFill/>
          <a:ln/>
        </p:spPr>
        <p:txBody>
          <a:bodyPr wrap="square" lIns="0" tIns="0" rIns="0" bIns="0" rtlCol="0" anchor="ctr"/>
          <a:lstStyle/>
          <a:p>
            <a:pPr indent="0" marL="0">
              <a:buNone/>
            </a:pPr>
            <a:r>
              <a:rPr lang="en-US" sz="1300" dirty="0">
                <a:solidFill>
                  <a:srgbClr val="555566"/>
                </a:solidFill>
                <a:latin typeface="Calibri" pitchFamily="34" charset="0"/>
                <a:ea typeface="Calibri" pitchFamily="34" charset="-122"/>
                <a:cs typeface="Calibri" pitchFamily="34" charset="-120"/>
              </a:rPr>
              <a:t>Altijd iemand ontevreden. Altijd een actor die 'wint'.</a:t>
            </a:r>
            <a:endParaRPr lang="en-US" sz="1300" dirty="0"/>
          </a:p>
        </p:txBody>
      </p:sp>
      <p:sp>
        <p:nvSpPr>
          <p:cNvPr id="23" name="Shape 21"/>
          <p:cNvSpPr/>
          <p:nvPr/>
        </p:nvSpPr>
        <p:spPr>
          <a:xfrm>
            <a:off x="6309360" y="640080"/>
            <a:ext cx="2560320" cy="4206240"/>
          </a:xfrm>
          <a:prstGeom prst="rect">
            <a:avLst/>
          </a:prstGeom>
          <a:solidFill>
            <a:srgbClr val="0F3460"/>
          </a:solidFill>
          <a:ln w="12700">
            <a:solidFill>
              <a:srgbClr val="CCCCDD"/>
            </a:solidFill>
            <a:prstDash val="solid"/>
          </a:ln>
          <a:effectLst>
            <a:outerShdw sx="100000" sy="100000" kx="0" ky="0" algn="bl" rotWithShape="0" blurRad="101600" dist="38100" dir="8100000">
              <a:srgbClr val="000000">
                <a:alpha val="18000"/>
              </a:srgbClr>
            </a:outerShdw>
          </a:effectLst>
        </p:spPr>
      </p:sp>
      <p:sp>
        <p:nvSpPr>
          <p:cNvPr id="24" name="Text 22"/>
          <p:cNvSpPr/>
          <p:nvPr/>
        </p:nvSpPr>
        <p:spPr>
          <a:xfrm>
            <a:off x="6309360" y="685800"/>
            <a:ext cx="2560320" cy="365760"/>
          </a:xfrm>
          <a:prstGeom prst="rect">
            <a:avLst/>
          </a:prstGeom>
          <a:noFill/>
          <a:ln/>
        </p:spPr>
        <p:txBody>
          <a:bodyPr wrap="square" lIns="0" tIns="0" rIns="0" bIns="0" rtlCol="0" anchor="ctr"/>
          <a:lstStyle/>
          <a:p>
            <a:pPr algn="ctr" indent="0" marL="0">
              <a:buNone/>
            </a:pPr>
            <a:r>
              <a:rPr lang="en-US" sz="1100" b="1" spc="100" kern="0" dirty="0">
                <a:solidFill>
                  <a:srgbClr val="A0A0B0"/>
                </a:solidFill>
                <a:latin typeface="Calibri" pitchFamily="34" charset="0"/>
                <a:ea typeface="Calibri" pitchFamily="34" charset="-122"/>
                <a:cs typeface="Calibri" pitchFamily="34" charset="-120"/>
              </a:rPr>
              <a:t>Fysiek prototype</a:t>
            </a:r>
            <a:endParaRPr lang="en-US" sz="1100" dirty="0"/>
          </a:p>
        </p:txBody>
      </p:sp>
      <p:sp>
        <p:nvSpPr>
          <p:cNvPr id="25" name="Text 23"/>
          <p:cNvSpPr/>
          <p:nvPr/>
        </p:nvSpPr>
        <p:spPr>
          <a:xfrm>
            <a:off x="6309360" y="1188720"/>
            <a:ext cx="2560320" cy="22860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endParaRPr lang="en-US" sz="2200" dirty="0"/>
          </a:p>
          <a:p>
            <a:pPr algn="ctr" indent="0" marL="0">
              <a:buNone/>
            </a:pPr>
            <a:r>
              <a:rPr lang="en-US" sz="2200" dirty="0">
                <a:solidFill>
                  <a:srgbClr val="000000"/>
                </a:solidFill>
              </a:rPr>
              <a:t>🛠️        🖨️        🛒</a:t>
            </a:r>
            <a:endParaRPr lang="en-US" sz="2200" dirty="0"/>
          </a:p>
          <a:p>
            <a:pPr algn="ctr" indent="0" marL="0">
              <a:buNone/>
            </a:pPr>
            <a:endParaRPr lang="en-US" sz="2200" dirty="0"/>
          </a:p>
          <a:p>
            <a:pPr algn="ctr" indent="0" marL="0">
              <a:buNone/>
            </a:pPr>
            <a:r>
              <a:rPr lang="en-US" sz="2200" dirty="0">
                <a:solidFill>
                  <a:srgbClr val="000000"/>
                </a:solidFill>
              </a:rPr>
              <a:t>👤</a:t>
            </a:r>
            <a:endParaRPr lang="en-US" sz="2200" dirty="0"/>
          </a:p>
        </p:txBody>
      </p:sp>
      <p:sp>
        <p:nvSpPr>
          <p:cNvPr id="26" name="Shape 24"/>
          <p:cNvSpPr/>
          <p:nvPr/>
        </p:nvSpPr>
        <p:spPr>
          <a:xfrm>
            <a:off x="6492240" y="3520440"/>
            <a:ext cx="2194560" cy="0"/>
          </a:xfrm>
          <a:prstGeom prst="line">
            <a:avLst/>
          </a:prstGeom>
          <a:noFill/>
          <a:ln w="12700">
            <a:solidFill>
              <a:srgbClr val="CCCCDD"/>
            </a:solidFill>
            <a:prstDash val="solid"/>
          </a:ln>
        </p:spPr>
      </p:sp>
      <p:sp>
        <p:nvSpPr>
          <p:cNvPr id="27" name="Text 25"/>
          <p:cNvSpPr/>
          <p:nvPr/>
        </p:nvSpPr>
        <p:spPr>
          <a:xfrm>
            <a:off x="6309360" y="3611880"/>
            <a:ext cx="2560320" cy="1097280"/>
          </a:xfrm>
          <a:prstGeom prst="rect">
            <a:avLst/>
          </a:prstGeom>
          <a:noFill/>
          <a:ln/>
        </p:spPr>
        <p:txBody>
          <a:bodyPr wrap="square" lIns="0" tIns="0" rIns="0" bIns="0" rtlCol="0" anchor="ctr"/>
          <a:lstStyle/>
          <a:p>
            <a:pPr algn="ctr" indent="0" marL="0">
              <a:buNone/>
            </a:pPr>
            <a:r>
              <a:rPr lang="en-US" sz="1400" dirty="0">
                <a:solidFill>
                  <a:srgbClr val="A0A0B0"/>
                </a:solidFill>
                <a:latin typeface="Calibri" pitchFamily="34" charset="0"/>
                <a:ea typeface="Calibri" pitchFamily="34" charset="-122"/>
                <a:cs typeface="Calibri" pitchFamily="34" charset="-120"/>
              </a:rPr>
              <a:t>[ keuzekaarten ]</a:t>
            </a:r>
            <a:endParaRPr lang="en-US" sz="1400" dirty="0"/>
          </a:p>
          <a:p>
            <a:pPr algn="ctr" indent="0" marL="0">
              <a:buNone/>
            </a:pPr>
            <a:r>
              <a:rPr lang="en-US" sz="1400" dirty="0">
                <a:solidFill>
                  <a:srgbClr val="A0A0B0"/>
                </a:solidFill>
                <a:latin typeface="Calibri" pitchFamily="34" charset="0"/>
                <a:ea typeface="Calibri" pitchFamily="34" charset="-122"/>
                <a:cs typeface="Calibri" pitchFamily="34" charset="-120"/>
              </a:rPr>
              <a:t>🔧  🛒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94560"/>
          </a:solidFill>
          <a:ln w="12700">
            <a:solidFill>
              <a:srgbClr val="E94560"/>
            </a:solidFill>
            <a:prstDash val="solid"/>
          </a:ln>
        </p:spPr>
      </p:sp>
      <p:sp>
        <p:nvSpPr>
          <p:cNvPr id="3" name="Text 1"/>
          <p:cNvSpPr/>
          <p:nvPr/>
        </p:nvSpPr>
        <p:spPr>
          <a:xfrm>
            <a:off x="274320" y="73152"/>
            <a:ext cx="8229600" cy="365760"/>
          </a:xfrm>
          <a:prstGeom prst="rect">
            <a:avLst/>
          </a:prstGeom>
          <a:noFill/>
          <a:ln/>
        </p:spPr>
        <p:txBody>
          <a:bodyPr wrap="square" lIns="0" tIns="0" rIns="0" bIns="0" rtlCol="0" anchor="ctr"/>
          <a:lstStyle/>
          <a:p>
            <a:pPr indent="0" marL="0">
              <a:buNone/>
            </a:pPr>
            <a:r>
              <a:rPr lang="en-US" sz="1300" b="1" spc="300" kern="0" dirty="0">
                <a:solidFill>
                  <a:srgbClr val="FFFFFF"/>
                </a:solidFill>
                <a:latin typeface="Arial" pitchFamily="34" charset="0"/>
                <a:ea typeface="Arial" pitchFamily="34" charset="-122"/>
                <a:cs typeface="Arial" pitchFamily="34" charset="-120"/>
              </a:rPr>
              <a:t>VOORBEELD: SCENARIO 1 — DE PRINTER</a:t>
            </a:r>
            <a:endParaRPr lang="en-US" sz="1300" dirty="0"/>
          </a:p>
        </p:txBody>
      </p:sp>
      <p:sp>
        <p:nvSpPr>
          <p:cNvPr id="4" name="Text 2"/>
          <p:cNvSpPr/>
          <p:nvPr/>
        </p:nvSpPr>
        <p:spPr>
          <a:xfrm>
            <a:off x="320040" y="594360"/>
            <a:ext cx="8503920" cy="457200"/>
          </a:xfrm>
          <a:prstGeom prst="rect">
            <a:avLst/>
          </a:prstGeom>
          <a:noFill/>
          <a:ln/>
        </p:spPr>
        <p:txBody>
          <a:bodyPr wrap="square" lIns="0" tIns="0" rIns="0" bIns="0" rtlCol="0" anchor="ctr"/>
          <a:lstStyle/>
          <a:p>
            <a:pPr indent="0" marL="0">
              <a:buNone/>
            </a:pPr>
            <a:r>
              <a:rPr lang="en-US" sz="1400" b="1" i="1" dirty="0">
                <a:solidFill>
                  <a:srgbClr val="E94560"/>
                </a:solidFill>
                <a:latin typeface="Calibri" pitchFamily="34" charset="0"/>
                <a:ea typeface="Calibri" pitchFamily="34" charset="-122"/>
                <a:cs typeface="Calibri" pitchFamily="34" charset="-120"/>
              </a:rPr>
              <a:t>⚠️  "Cartridge leeg — vervang nu"  (maar de cartridge is nog niet echt leeg)</a:t>
            </a:r>
            <a:endParaRPr lang="en-US" sz="1400" dirty="0"/>
          </a:p>
        </p:txBody>
      </p:sp>
      <p:sp>
        <p:nvSpPr>
          <p:cNvPr id="5" name="Shape 3"/>
          <p:cNvSpPr/>
          <p:nvPr/>
        </p:nvSpPr>
        <p:spPr>
          <a:xfrm>
            <a:off x="320040" y="1188720"/>
            <a:ext cx="1737360" cy="457200"/>
          </a:xfrm>
          <a:prstGeom prst="rect">
            <a:avLst/>
          </a:prstGeom>
          <a:solidFill>
            <a:srgbClr val="0F3460"/>
          </a:solidFill>
          <a:ln w="12700">
            <a:solidFill>
              <a:srgbClr val="FFFFFF">
                <a:alpha val="20000"/>
              </a:srgbClr>
            </a:solidFill>
            <a:prstDash val="solid"/>
          </a:ln>
        </p:spPr>
      </p:sp>
      <p:sp>
        <p:nvSpPr>
          <p:cNvPr id="6" name="Text 4"/>
          <p:cNvSpPr/>
          <p:nvPr/>
        </p:nvSpPr>
        <p:spPr>
          <a:xfrm>
            <a:off x="365760" y="1188720"/>
            <a:ext cx="16459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Keuze</a:t>
            </a:r>
            <a:endParaRPr lang="en-US" sz="1100" dirty="0"/>
          </a:p>
        </p:txBody>
      </p:sp>
      <p:sp>
        <p:nvSpPr>
          <p:cNvPr id="7" name="Shape 5"/>
          <p:cNvSpPr/>
          <p:nvPr/>
        </p:nvSpPr>
        <p:spPr>
          <a:xfrm>
            <a:off x="2148840" y="1188720"/>
            <a:ext cx="1554480" cy="457200"/>
          </a:xfrm>
          <a:prstGeom prst="rect">
            <a:avLst/>
          </a:prstGeom>
          <a:solidFill>
            <a:srgbClr val="0F3460"/>
          </a:solidFill>
          <a:ln w="12700">
            <a:solidFill>
              <a:srgbClr val="FFFFFF">
                <a:alpha val="20000"/>
              </a:srgbClr>
            </a:solidFill>
            <a:prstDash val="solid"/>
          </a:ln>
        </p:spPr>
      </p:sp>
      <p:sp>
        <p:nvSpPr>
          <p:cNvPr id="8" name="Text 6"/>
          <p:cNvSpPr/>
          <p:nvPr/>
        </p:nvSpPr>
        <p:spPr>
          <a:xfrm>
            <a:off x="2194560" y="1188720"/>
            <a:ext cx="14630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Gebruiker</a:t>
            </a:r>
            <a:endParaRPr lang="en-US" sz="1100" dirty="0"/>
          </a:p>
        </p:txBody>
      </p:sp>
      <p:sp>
        <p:nvSpPr>
          <p:cNvPr id="9" name="Shape 7"/>
          <p:cNvSpPr/>
          <p:nvPr/>
        </p:nvSpPr>
        <p:spPr>
          <a:xfrm>
            <a:off x="3749040" y="1188720"/>
            <a:ext cx="1554480" cy="457200"/>
          </a:xfrm>
          <a:prstGeom prst="rect">
            <a:avLst/>
          </a:prstGeom>
          <a:solidFill>
            <a:srgbClr val="0F3460"/>
          </a:solidFill>
          <a:ln w="12700">
            <a:solidFill>
              <a:srgbClr val="FFFFFF">
                <a:alpha val="20000"/>
              </a:srgbClr>
            </a:solidFill>
            <a:prstDash val="solid"/>
          </a:ln>
        </p:spPr>
      </p:sp>
      <p:sp>
        <p:nvSpPr>
          <p:cNvPr id="10" name="Text 8"/>
          <p:cNvSpPr/>
          <p:nvPr/>
        </p:nvSpPr>
        <p:spPr>
          <a:xfrm>
            <a:off x="3794760" y="1188720"/>
            <a:ext cx="14630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Repair Café</a:t>
            </a:r>
            <a:endParaRPr lang="en-US" sz="1100" dirty="0"/>
          </a:p>
        </p:txBody>
      </p:sp>
      <p:sp>
        <p:nvSpPr>
          <p:cNvPr id="11" name="Shape 9"/>
          <p:cNvSpPr/>
          <p:nvPr/>
        </p:nvSpPr>
        <p:spPr>
          <a:xfrm>
            <a:off x="5349240" y="1188720"/>
            <a:ext cx="1554480" cy="457200"/>
          </a:xfrm>
          <a:prstGeom prst="rect">
            <a:avLst/>
          </a:prstGeom>
          <a:solidFill>
            <a:srgbClr val="0F3460"/>
          </a:solidFill>
          <a:ln w="12700">
            <a:solidFill>
              <a:srgbClr val="FFFFFF">
                <a:alpha val="20000"/>
              </a:srgbClr>
            </a:solidFill>
            <a:prstDash val="solid"/>
          </a:ln>
        </p:spPr>
      </p:sp>
      <p:sp>
        <p:nvSpPr>
          <p:cNvPr id="12" name="Text 10"/>
          <p:cNvSpPr/>
          <p:nvPr/>
        </p:nvSpPr>
        <p:spPr>
          <a:xfrm>
            <a:off x="5394960" y="1188720"/>
            <a:ext cx="14630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Fabrikant</a:t>
            </a:r>
            <a:endParaRPr lang="en-US" sz="1100" dirty="0"/>
          </a:p>
        </p:txBody>
      </p:sp>
      <p:sp>
        <p:nvSpPr>
          <p:cNvPr id="13" name="Shape 11"/>
          <p:cNvSpPr/>
          <p:nvPr/>
        </p:nvSpPr>
        <p:spPr>
          <a:xfrm>
            <a:off x="6949440" y="1188720"/>
            <a:ext cx="1874520" cy="457200"/>
          </a:xfrm>
          <a:prstGeom prst="rect">
            <a:avLst/>
          </a:prstGeom>
          <a:solidFill>
            <a:srgbClr val="0F3460"/>
          </a:solidFill>
          <a:ln w="12700">
            <a:solidFill>
              <a:srgbClr val="FFFFFF">
                <a:alpha val="20000"/>
              </a:srgbClr>
            </a:solidFill>
            <a:prstDash val="solid"/>
          </a:ln>
        </p:spPr>
      </p:sp>
      <p:sp>
        <p:nvSpPr>
          <p:cNvPr id="14" name="Text 12"/>
          <p:cNvSpPr/>
          <p:nvPr/>
        </p:nvSpPr>
        <p:spPr>
          <a:xfrm>
            <a:off x="6995160" y="1188720"/>
            <a:ext cx="17830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Printer</a:t>
            </a:r>
            <a:endParaRPr lang="en-US" sz="1100" dirty="0"/>
          </a:p>
        </p:txBody>
      </p:sp>
      <p:sp>
        <p:nvSpPr>
          <p:cNvPr id="15" name="Shape 13"/>
          <p:cNvSpPr/>
          <p:nvPr/>
        </p:nvSpPr>
        <p:spPr>
          <a:xfrm>
            <a:off x="320040" y="1664208"/>
            <a:ext cx="1737360" cy="621792"/>
          </a:xfrm>
          <a:prstGeom prst="rect">
            <a:avLst/>
          </a:prstGeom>
          <a:solidFill>
            <a:srgbClr val="0F3460"/>
          </a:solidFill>
          <a:ln w="12700">
            <a:solidFill>
              <a:srgbClr val="FFFFFF">
                <a:alpha val="10000"/>
              </a:srgbClr>
            </a:solidFill>
            <a:prstDash val="solid"/>
          </a:ln>
        </p:spPr>
      </p:sp>
      <p:sp>
        <p:nvSpPr>
          <p:cNvPr id="16" name="Text 14"/>
          <p:cNvSpPr/>
          <p:nvPr/>
        </p:nvSpPr>
        <p:spPr>
          <a:xfrm>
            <a:off x="365760" y="1664208"/>
            <a:ext cx="164592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Refill-patroon</a:t>
            </a:r>
            <a:endParaRPr lang="en-US" sz="1200" dirty="0"/>
          </a:p>
        </p:txBody>
      </p:sp>
      <p:sp>
        <p:nvSpPr>
          <p:cNvPr id="17" name="Shape 15"/>
          <p:cNvSpPr/>
          <p:nvPr/>
        </p:nvSpPr>
        <p:spPr>
          <a:xfrm>
            <a:off x="2148840" y="1664208"/>
            <a:ext cx="1554480" cy="621792"/>
          </a:xfrm>
          <a:prstGeom prst="rect">
            <a:avLst/>
          </a:prstGeom>
          <a:solidFill>
            <a:srgbClr val="1A2A50"/>
          </a:solidFill>
          <a:ln w="12700">
            <a:solidFill>
              <a:srgbClr val="FFFFFF">
                <a:alpha val="10000"/>
              </a:srgbClr>
            </a:solidFill>
            <a:prstDash val="solid"/>
          </a:ln>
        </p:spPr>
      </p:sp>
      <p:sp>
        <p:nvSpPr>
          <p:cNvPr id="18" name="Text 16"/>
          <p:cNvSpPr/>
          <p:nvPr/>
        </p:nvSpPr>
        <p:spPr>
          <a:xfrm>
            <a:off x="2194560" y="1664208"/>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Blij</a:t>
            </a:r>
            <a:endParaRPr lang="en-US" sz="1200" dirty="0"/>
          </a:p>
        </p:txBody>
      </p:sp>
      <p:sp>
        <p:nvSpPr>
          <p:cNvPr id="19" name="Shape 17"/>
          <p:cNvSpPr/>
          <p:nvPr/>
        </p:nvSpPr>
        <p:spPr>
          <a:xfrm>
            <a:off x="3749040" y="1664208"/>
            <a:ext cx="1554480" cy="621792"/>
          </a:xfrm>
          <a:prstGeom prst="rect">
            <a:avLst/>
          </a:prstGeom>
          <a:solidFill>
            <a:srgbClr val="1A2A50"/>
          </a:solidFill>
          <a:ln w="12700">
            <a:solidFill>
              <a:srgbClr val="FFFFFF">
                <a:alpha val="10000"/>
              </a:srgbClr>
            </a:solidFill>
            <a:prstDash val="solid"/>
          </a:ln>
        </p:spPr>
      </p:sp>
      <p:sp>
        <p:nvSpPr>
          <p:cNvPr id="20" name="Text 18"/>
          <p:cNvSpPr/>
          <p:nvPr/>
        </p:nvSpPr>
        <p:spPr>
          <a:xfrm>
            <a:off x="3794760" y="1664208"/>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Blij</a:t>
            </a:r>
            <a:endParaRPr lang="en-US" sz="1200" dirty="0"/>
          </a:p>
        </p:txBody>
      </p:sp>
      <p:sp>
        <p:nvSpPr>
          <p:cNvPr id="21" name="Shape 19"/>
          <p:cNvSpPr/>
          <p:nvPr/>
        </p:nvSpPr>
        <p:spPr>
          <a:xfrm>
            <a:off x="5349240" y="1664208"/>
            <a:ext cx="1554480" cy="621792"/>
          </a:xfrm>
          <a:prstGeom prst="rect">
            <a:avLst/>
          </a:prstGeom>
          <a:solidFill>
            <a:srgbClr val="1A2A50"/>
          </a:solidFill>
          <a:ln w="12700">
            <a:solidFill>
              <a:srgbClr val="FFFFFF">
                <a:alpha val="10000"/>
              </a:srgbClr>
            </a:solidFill>
            <a:prstDash val="solid"/>
          </a:ln>
        </p:spPr>
      </p:sp>
      <p:sp>
        <p:nvSpPr>
          <p:cNvPr id="22" name="Text 20"/>
          <p:cNvSpPr/>
          <p:nvPr/>
        </p:nvSpPr>
        <p:spPr>
          <a:xfrm>
            <a:off x="5394960" y="1664208"/>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Boos</a:t>
            </a:r>
            <a:endParaRPr lang="en-US" sz="1200" dirty="0"/>
          </a:p>
        </p:txBody>
      </p:sp>
      <p:sp>
        <p:nvSpPr>
          <p:cNvPr id="23" name="Shape 21"/>
          <p:cNvSpPr/>
          <p:nvPr/>
        </p:nvSpPr>
        <p:spPr>
          <a:xfrm>
            <a:off x="6949440" y="1664208"/>
            <a:ext cx="1874520" cy="621792"/>
          </a:xfrm>
          <a:prstGeom prst="rect">
            <a:avLst/>
          </a:prstGeom>
          <a:solidFill>
            <a:srgbClr val="1A2A50"/>
          </a:solidFill>
          <a:ln w="12700">
            <a:solidFill>
              <a:srgbClr val="FFFFFF">
                <a:alpha val="10000"/>
              </a:srgbClr>
            </a:solidFill>
            <a:prstDash val="solid"/>
          </a:ln>
        </p:spPr>
      </p:sp>
      <p:sp>
        <p:nvSpPr>
          <p:cNvPr id="24" name="Text 22"/>
          <p:cNvSpPr/>
          <p:nvPr/>
        </p:nvSpPr>
        <p:spPr>
          <a:xfrm>
            <a:off x="6995160" y="1664208"/>
            <a:ext cx="178308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Foutmelding</a:t>
            </a:r>
            <a:endParaRPr lang="en-US" sz="1200" dirty="0"/>
          </a:p>
        </p:txBody>
      </p:sp>
      <p:sp>
        <p:nvSpPr>
          <p:cNvPr id="25" name="Shape 23"/>
          <p:cNvSpPr/>
          <p:nvPr/>
        </p:nvSpPr>
        <p:spPr>
          <a:xfrm>
            <a:off x="320040" y="2322576"/>
            <a:ext cx="1737360" cy="621792"/>
          </a:xfrm>
          <a:prstGeom prst="rect">
            <a:avLst/>
          </a:prstGeom>
          <a:solidFill>
            <a:srgbClr val="0F3460"/>
          </a:solidFill>
          <a:ln w="12700">
            <a:solidFill>
              <a:srgbClr val="FFFFFF">
                <a:alpha val="10000"/>
              </a:srgbClr>
            </a:solidFill>
            <a:prstDash val="solid"/>
          </a:ln>
        </p:spPr>
      </p:sp>
      <p:sp>
        <p:nvSpPr>
          <p:cNvPr id="26" name="Text 24"/>
          <p:cNvSpPr/>
          <p:nvPr/>
        </p:nvSpPr>
        <p:spPr>
          <a:xfrm>
            <a:off x="365760" y="2322576"/>
            <a:ext cx="164592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Officieel patroon</a:t>
            </a:r>
            <a:endParaRPr lang="en-US" sz="1200" dirty="0"/>
          </a:p>
        </p:txBody>
      </p:sp>
      <p:sp>
        <p:nvSpPr>
          <p:cNvPr id="27" name="Shape 25"/>
          <p:cNvSpPr/>
          <p:nvPr/>
        </p:nvSpPr>
        <p:spPr>
          <a:xfrm>
            <a:off x="2148840" y="2322576"/>
            <a:ext cx="1554480" cy="621792"/>
          </a:xfrm>
          <a:prstGeom prst="rect">
            <a:avLst/>
          </a:prstGeom>
          <a:solidFill>
            <a:srgbClr val="162040"/>
          </a:solidFill>
          <a:ln w="12700">
            <a:solidFill>
              <a:srgbClr val="FFFFFF">
                <a:alpha val="10000"/>
              </a:srgbClr>
            </a:solidFill>
            <a:prstDash val="solid"/>
          </a:ln>
        </p:spPr>
      </p:sp>
      <p:sp>
        <p:nvSpPr>
          <p:cNvPr id="28" name="Text 26"/>
          <p:cNvSpPr/>
          <p:nvPr/>
        </p:nvSpPr>
        <p:spPr>
          <a:xfrm>
            <a:off x="2194560" y="2322576"/>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Neutraal</a:t>
            </a:r>
            <a:endParaRPr lang="en-US" sz="1200" dirty="0"/>
          </a:p>
        </p:txBody>
      </p:sp>
      <p:sp>
        <p:nvSpPr>
          <p:cNvPr id="29" name="Shape 27"/>
          <p:cNvSpPr/>
          <p:nvPr/>
        </p:nvSpPr>
        <p:spPr>
          <a:xfrm>
            <a:off x="3749040" y="2322576"/>
            <a:ext cx="1554480" cy="621792"/>
          </a:xfrm>
          <a:prstGeom prst="rect">
            <a:avLst/>
          </a:prstGeom>
          <a:solidFill>
            <a:srgbClr val="162040"/>
          </a:solidFill>
          <a:ln w="12700">
            <a:solidFill>
              <a:srgbClr val="FFFFFF">
                <a:alpha val="10000"/>
              </a:srgbClr>
            </a:solidFill>
            <a:prstDash val="solid"/>
          </a:ln>
        </p:spPr>
      </p:sp>
      <p:sp>
        <p:nvSpPr>
          <p:cNvPr id="30" name="Text 28"/>
          <p:cNvSpPr/>
          <p:nvPr/>
        </p:nvSpPr>
        <p:spPr>
          <a:xfrm>
            <a:off x="3794760" y="2322576"/>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Neutraal</a:t>
            </a:r>
            <a:endParaRPr lang="en-US" sz="1200" dirty="0"/>
          </a:p>
        </p:txBody>
      </p:sp>
      <p:sp>
        <p:nvSpPr>
          <p:cNvPr id="31" name="Shape 29"/>
          <p:cNvSpPr/>
          <p:nvPr/>
        </p:nvSpPr>
        <p:spPr>
          <a:xfrm>
            <a:off x="5349240" y="2322576"/>
            <a:ext cx="1554480" cy="621792"/>
          </a:xfrm>
          <a:prstGeom prst="rect">
            <a:avLst/>
          </a:prstGeom>
          <a:solidFill>
            <a:srgbClr val="162040"/>
          </a:solidFill>
          <a:ln w="12700">
            <a:solidFill>
              <a:srgbClr val="FFFFFF">
                <a:alpha val="10000"/>
              </a:srgbClr>
            </a:solidFill>
            <a:prstDash val="solid"/>
          </a:ln>
        </p:spPr>
      </p:sp>
      <p:sp>
        <p:nvSpPr>
          <p:cNvPr id="32" name="Text 30"/>
          <p:cNvSpPr/>
          <p:nvPr/>
        </p:nvSpPr>
        <p:spPr>
          <a:xfrm>
            <a:off x="5394960" y="2322576"/>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Blij</a:t>
            </a:r>
            <a:endParaRPr lang="en-US" sz="1200" dirty="0"/>
          </a:p>
        </p:txBody>
      </p:sp>
      <p:sp>
        <p:nvSpPr>
          <p:cNvPr id="33" name="Shape 31"/>
          <p:cNvSpPr/>
          <p:nvPr/>
        </p:nvSpPr>
        <p:spPr>
          <a:xfrm>
            <a:off x="6949440" y="2322576"/>
            <a:ext cx="1874520" cy="621792"/>
          </a:xfrm>
          <a:prstGeom prst="rect">
            <a:avLst/>
          </a:prstGeom>
          <a:solidFill>
            <a:srgbClr val="162040"/>
          </a:solidFill>
          <a:ln w="12700">
            <a:solidFill>
              <a:srgbClr val="FFFFFF">
                <a:alpha val="10000"/>
              </a:srgbClr>
            </a:solidFill>
            <a:prstDash val="solid"/>
          </a:ln>
        </p:spPr>
      </p:sp>
      <p:sp>
        <p:nvSpPr>
          <p:cNvPr id="34" name="Text 32"/>
          <p:cNvSpPr/>
          <p:nvPr/>
        </p:nvSpPr>
        <p:spPr>
          <a:xfrm>
            <a:off x="6995160" y="2322576"/>
            <a:ext cx="178308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Accepteert</a:t>
            </a:r>
            <a:endParaRPr lang="en-US" sz="1200" dirty="0"/>
          </a:p>
        </p:txBody>
      </p:sp>
      <p:sp>
        <p:nvSpPr>
          <p:cNvPr id="35" name="Shape 33"/>
          <p:cNvSpPr/>
          <p:nvPr/>
        </p:nvSpPr>
        <p:spPr>
          <a:xfrm>
            <a:off x="320040" y="2980944"/>
            <a:ext cx="1737360" cy="621792"/>
          </a:xfrm>
          <a:prstGeom prst="rect">
            <a:avLst/>
          </a:prstGeom>
          <a:solidFill>
            <a:srgbClr val="0F3460"/>
          </a:solidFill>
          <a:ln w="12700">
            <a:solidFill>
              <a:srgbClr val="FFFFFF">
                <a:alpha val="10000"/>
              </a:srgbClr>
            </a:solidFill>
            <a:prstDash val="solid"/>
          </a:ln>
        </p:spPr>
      </p:sp>
      <p:sp>
        <p:nvSpPr>
          <p:cNvPr id="36" name="Text 34"/>
          <p:cNvSpPr/>
          <p:nvPr/>
        </p:nvSpPr>
        <p:spPr>
          <a:xfrm>
            <a:off x="365760" y="2980944"/>
            <a:ext cx="164592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Nieuwe printer</a:t>
            </a:r>
            <a:endParaRPr lang="en-US" sz="1200" dirty="0"/>
          </a:p>
        </p:txBody>
      </p:sp>
      <p:sp>
        <p:nvSpPr>
          <p:cNvPr id="37" name="Shape 35"/>
          <p:cNvSpPr/>
          <p:nvPr/>
        </p:nvSpPr>
        <p:spPr>
          <a:xfrm>
            <a:off x="2148840" y="2980944"/>
            <a:ext cx="1554480" cy="621792"/>
          </a:xfrm>
          <a:prstGeom prst="rect">
            <a:avLst/>
          </a:prstGeom>
          <a:solidFill>
            <a:srgbClr val="1A2A50"/>
          </a:solidFill>
          <a:ln w="12700">
            <a:solidFill>
              <a:srgbClr val="FFFFFF">
                <a:alpha val="10000"/>
              </a:srgbClr>
            </a:solidFill>
            <a:prstDash val="solid"/>
          </a:ln>
        </p:spPr>
      </p:sp>
      <p:sp>
        <p:nvSpPr>
          <p:cNvPr id="38" name="Text 36"/>
          <p:cNvSpPr/>
          <p:nvPr/>
        </p:nvSpPr>
        <p:spPr>
          <a:xfrm>
            <a:off x="2194560" y="2980944"/>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Duur</a:t>
            </a:r>
            <a:endParaRPr lang="en-US" sz="1200" dirty="0"/>
          </a:p>
        </p:txBody>
      </p:sp>
      <p:sp>
        <p:nvSpPr>
          <p:cNvPr id="39" name="Shape 37"/>
          <p:cNvSpPr/>
          <p:nvPr/>
        </p:nvSpPr>
        <p:spPr>
          <a:xfrm>
            <a:off x="3749040" y="2980944"/>
            <a:ext cx="1554480" cy="621792"/>
          </a:xfrm>
          <a:prstGeom prst="rect">
            <a:avLst/>
          </a:prstGeom>
          <a:solidFill>
            <a:srgbClr val="1A2A50"/>
          </a:solidFill>
          <a:ln w="12700">
            <a:solidFill>
              <a:srgbClr val="FFFFFF">
                <a:alpha val="10000"/>
              </a:srgbClr>
            </a:solidFill>
            <a:prstDash val="solid"/>
          </a:ln>
        </p:spPr>
      </p:sp>
      <p:sp>
        <p:nvSpPr>
          <p:cNvPr id="40" name="Text 38"/>
          <p:cNvSpPr/>
          <p:nvPr/>
        </p:nvSpPr>
        <p:spPr>
          <a:xfrm>
            <a:off x="3794760" y="2980944"/>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Onnodig</a:t>
            </a:r>
            <a:endParaRPr lang="en-US" sz="1200" dirty="0"/>
          </a:p>
        </p:txBody>
      </p:sp>
      <p:sp>
        <p:nvSpPr>
          <p:cNvPr id="41" name="Shape 39"/>
          <p:cNvSpPr/>
          <p:nvPr/>
        </p:nvSpPr>
        <p:spPr>
          <a:xfrm>
            <a:off x="5349240" y="2980944"/>
            <a:ext cx="1554480" cy="621792"/>
          </a:xfrm>
          <a:prstGeom prst="rect">
            <a:avLst/>
          </a:prstGeom>
          <a:solidFill>
            <a:srgbClr val="1A2A50"/>
          </a:solidFill>
          <a:ln w="12700">
            <a:solidFill>
              <a:srgbClr val="FFFFFF">
                <a:alpha val="10000"/>
              </a:srgbClr>
            </a:solidFill>
            <a:prstDash val="solid"/>
          </a:ln>
        </p:spPr>
      </p:sp>
      <p:sp>
        <p:nvSpPr>
          <p:cNvPr id="42" name="Text 40"/>
          <p:cNvSpPr/>
          <p:nvPr/>
        </p:nvSpPr>
        <p:spPr>
          <a:xfrm>
            <a:off x="5394960" y="2980944"/>
            <a:ext cx="146304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Blij</a:t>
            </a:r>
            <a:endParaRPr lang="en-US" sz="1200" dirty="0"/>
          </a:p>
        </p:txBody>
      </p:sp>
      <p:sp>
        <p:nvSpPr>
          <p:cNvPr id="43" name="Shape 41"/>
          <p:cNvSpPr/>
          <p:nvPr/>
        </p:nvSpPr>
        <p:spPr>
          <a:xfrm>
            <a:off x="6949440" y="2980944"/>
            <a:ext cx="1874520" cy="621792"/>
          </a:xfrm>
          <a:prstGeom prst="rect">
            <a:avLst/>
          </a:prstGeom>
          <a:solidFill>
            <a:srgbClr val="1A2A50"/>
          </a:solidFill>
          <a:ln w="12700">
            <a:solidFill>
              <a:srgbClr val="FFFFFF">
                <a:alpha val="10000"/>
              </a:srgbClr>
            </a:solidFill>
            <a:prstDash val="solid"/>
          </a:ln>
        </p:spPr>
      </p:sp>
      <p:sp>
        <p:nvSpPr>
          <p:cNvPr id="44" name="Text 42"/>
          <p:cNvSpPr/>
          <p:nvPr/>
        </p:nvSpPr>
        <p:spPr>
          <a:xfrm>
            <a:off x="6995160" y="2980944"/>
            <a:ext cx="1783080" cy="62179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Opgelost</a:t>
            </a:r>
            <a:endParaRPr lang="en-US" sz="1200" dirty="0"/>
          </a:p>
        </p:txBody>
      </p:sp>
      <p:sp>
        <p:nvSpPr>
          <p:cNvPr id="45" name="Shape 43"/>
          <p:cNvSpPr/>
          <p:nvPr/>
        </p:nvSpPr>
        <p:spPr>
          <a:xfrm>
            <a:off x="320040" y="3794760"/>
            <a:ext cx="8503920" cy="822960"/>
          </a:xfrm>
          <a:prstGeom prst="rect">
            <a:avLst/>
          </a:prstGeom>
          <a:solidFill>
            <a:srgbClr val="0D1B3E"/>
          </a:solidFill>
          <a:ln w="25400">
            <a:solidFill>
              <a:srgbClr val="E94560"/>
            </a:solidFill>
            <a:prstDash val="solid"/>
          </a:ln>
        </p:spPr>
      </p:sp>
      <p:sp>
        <p:nvSpPr>
          <p:cNvPr id="46" name="Text 44"/>
          <p:cNvSpPr/>
          <p:nvPr/>
        </p:nvSpPr>
        <p:spPr>
          <a:xfrm>
            <a:off x="457200" y="3840480"/>
            <a:ext cx="8321040" cy="73152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  Wie heeft hier de macht? De gebruiker die betaalt — of de printer die beslist?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1A2E"/>
          </a:solidFill>
          <a:ln w="12700">
            <a:solidFill>
              <a:srgbClr val="1A1A2E"/>
            </a:solidFill>
            <a:prstDash val="solid"/>
          </a:ln>
        </p:spPr>
      </p:sp>
      <p:sp>
        <p:nvSpPr>
          <p:cNvPr id="3" name="Text 1"/>
          <p:cNvSpPr/>
          <p:nvPr/>
        </p:nvSpPr>
        <p:spPr>
          <a:xfrm>
            <a:off x="274320" y="73152"/>
            <a:ext cx="8229600" cy="365760"/>
          </a:xfrm>
          <a:prstGeom prst="rect">
            <a:avLst/>
          </a:prstGeom>
          <a:noFill/>
          <a:ln/>
        </p:spPr>
        <p:txBody>
          <a:bodyPr wrap="square" lIns="0" tIns="0" rIns="0" bIns="0" rtlCol="0" anchor="ctr"/>
          <a:lstStyle/>
          <a:p>
            <a:pPr indent="0" marL="0">
              <a:buNone/>
            </a:pPr>
            <a:r>
              <a:rPr lang="en-US" sz="1300" b="1" spc="300" kern="0" dirty="0">
                <a:solidFill>
                  <a:srgbClr val="FFFFFF"/>
                </a:solidFill>
                <a:latin typeface="Arial" pitchFamily="34" charset="0"/>
                <a:ea typeface="Arial" pitchFamily="34" charset="-122"/>
                <a:cs typeface="Arial" pitchFamily="34" charset="-120"/>
              </a:rPr>
              <a:t>HET PATROON</a:t>
            </a:r>
            <a:endParaRPr lang="en-US" sz="1300" dirty="0"/>
          </a:p>
        </p:txBody>
      </p:sp>
      <p:sp>
        <p:nvSpPr>
          <p:cNvPr id="4" name="Text 2"/>
          <p:cNvSpPr/>
          <p:nvPr/>
        </p:nvSpPr>
        <p:spPr>
          <a:xfrm>
            <a:off x="365760" y="640080"/>
            <a:ext cx="8229600" cy="502920"/>
          </a:xfrm>
          <a:prstGeom prst="rect">
            <a:avLst/>
          </a:prstGeom>
          <a:noFill/>
          <a:ln/>
        </p:spPr>
        <p:txBody>
          <a:bodyPr wrap="square" lIns="0" tIns="0" rIns="0" bIns="0" rtlCol="0" anchor="ctr"/>
          <a:lstStyle/>
          <a:p>
            <a:pPr indent="0" marL="0">
              <a:buNone/>
            </a:pPr>
            <a:r>
              <a:rPr lang="en-US" sz="1700" i="1" dirty="0">
                <a:solidFill>
                  <a:srgbClr val="444466"/>
                </a:solidFill>
                <a:latin typeface="Calibri" pitchFamily="34" charset="0"/>
                <a:ea typeface="Calibri" pitchFamily="34" charset="-122"/>
                <a:cs typeface="Calibri" pitchFamily="34" charset="-120"/>
              </a:rPr>
              <a:t>Na drie scenario's ziet de bezoeker hetzelfde patroon — steeds opnieuw.</a:t>
            </a:r>
            <a:endParaRPr lang="en-US" sz="1700" dirty="0"/>
          </a:p>
        </p:txBody>
      </p:sp>
      <p:sp>
        <p:nvSpPr>
          <p:cNvPr id="5" name="Shape 3"/>
          <p:cNvSpPr/>
          <p:nvPr/>
        </p:nvSpPr>
        <p:spPr>
          <a:xfrm>
            <a:off x="320040" y="1234440"/>
            <a:ext cx="8503920" cy="749808"/>
          </a:xfrm>
          <a:prstGeom prst="rect">
            <a:avLst/>
          </a:prstGeom>
          <a:solidFill>
            <a:srgbClr val="EEF2F8"/>
          </a:solidFill>
          <a:ln w="12700">
            <a:solidFill>
              <a:srgbClr val="CCCCDD"/>
            </a:solidFill>
            <a:prstDash val="solid"/>
          </a:ln>
        </p:spPr>
      </p:sp>
      <p:sp>
        <p:nvSpPr>
          <p:cNvPr id="6" name="Shape 4"/>
          <p:cNvSpPr/>
          <p:nvPr/>
        </p:nvSpPr>
        <p:spPr>
          <a:xfrm>
            <a:off x="320040" y="1234440"/>
            <a:ext cx="73152" cy="749808"/>
          </a:xfrm>
          <a:prstGeom prst="rect">
            <a:avLst/>
          </a:prstGeom>
          <a:solidFill>
            <a:srgbClr val="E94560"/>
          </a:solidFill>
          <a:ln w="12700">
            <a:solidFill>
              <a:srgbClr val="E94560"/>
            </a:solidFill>
            <a:prstDash val="solid"/>
          </a:ln>
        </p:spPr>
      </p:sp>
      <p:sp>
        <p:nvSpPr>
          <p:cNvPr id="7" name="Text 5"/>
          <p:cNvSpPr/>
          <p:nvPr/>
        </p:nvSpPr>
        <p:spPr>
          <a:xfrm>
            <a:off x="457200" y="1234440"/>
            <a:ext cx="640080" cy="74980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1188720" y="1234440"/>
            <a:ext cx="7406640" cy="749808"/>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Het apparaat signaleert al voordat jij kiest</a:t>
            </a:r>
            <a:endParaRPr lang="en-US" sz="1600" dirty="0"/>
          </a:p>
        </p:txBody>
      </p:sp>
      <p:sp>
        <p:nvSpPr>
          <p:cNvPr id="9" name="Shape 7"/>
          <p:cNvSpPr/>
          <p:nvPr/>
        </p:nvSpPr>
        <p:spPr>
          <a:xfrm>
            <a:off x="320040" y="2103120"/>
            <a:ext cx="8503920" cy="749808"/>
          </a:xfrm>
          <a:prstGeom prst="rect">
            <a:avLst/>
          </a:prstGeom>
          <a:solidFill>
            <a:srgbClr val="E8EDF5"/>
          </a:solidFill>
          <a:ln w="12700">
            <a:solidFill>
              <a:srgbClr val="CCCCDD"/>
            </a:solidFill>
            <a:prstDash val="solid"/>
          </a:ln>
        </p:spPr>
      </p:sp>
      <p:sp>
        <p:nvSpPr>
          <p:cNvPr id="10" name="Shape 8"/>
          <p:cNvSpPr/>
          <p:nvPr/>
        </p:nvSpPr>
        <p:spPr>
          <a:xfrm>
            <a:off x="320040" y="2103120"/>
            <a:ext cx="73152" cy="749808"/>
          </a:xfrm>
          <a:prstGeom prst="rect">
            <a:avLst/>
          </a:prstGeom>
          <a:solidFill>
            <a:srgbClr val="E94560"/>
          </a:solidFill>
          <a:ln w="12700">
            <a:solidFill>
              <a:srgbClr val="E94560"/>
            </a:solidFill>
            <a:prstDash val="solid"/>
          </a:ln>
        </p:spPr>
      </p:sp>
      <p:sp>
        <p:nvSpPr>
          <p:cNvPr id="11" name="Text 9"/>
          <p:cNvSpPr/>
          <p:nvPr/>
        </p:nvSpPr>
        <p:spPr>
          <a:xfrm>
            <a:off x="457200" y="2103120"/>
            <a:ext cx="640080" cy="74980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2" name="Text 10"/>
          <p:cNvSpPr/>
          <p:nvPr/>
        </p:nvSpPr>
        <p:spPr>
          <a:xfrm>
            <a:off x="1188720" y="2103120"/>
            <a:ext cx="7406640" cy="749808"/>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Dat signaal stuurt richting de duurste of meest winstgevende optie</a:t>
            </a:r>
            <a:endParaRPr lang="en-US" sz="1600" dirty="0"/>
          </a:p>
        </p:txBody>
      </p:sp>
      <p:sp>
        <p:nvSpPr>
          <p:cNvPr id="13" name="Shape 11"/>
          <p:cNvSpPr/>
          <p:nvPr/>
        </p:nvSpPr>
        <p:spPr>
          <a:xfrm>
            <a:off x="320040" y="2971800"/>
            <a:ext cx="8503920" cy="749808"/>
          </a:xfrm>
          <a:prstGeom prst="rect">
            <a:avLst/>
          </a:prstGeom>
          <a:solidFill>
            <a:srgbClr val="EEF2F8"/>
          </a:solidFill>
          <a:ln w="12700">
            <a:solidFill>
              <a:srgbClr val="CCCCDD"/>
            </a:solidFill>
            <a:prstDash val="solid"/>
          </a:ln>
        </p:spPr>
      </p:sp>
      <p:sp>
        <p:nvSpPr>
          <p:cNvPr id="14" name="Shape 12"/>
          <p:cNvSpPr/>
          <p:nvPr/>
        </p:nvSpPr>
        <p:spPr>
          <a:xfrm>
            <a:off x="320040" y="2971800"/>
            <a:ext cx="73152" cy="749808"/>
          </a:xfrm>
          <a:prstGeom prst="rect">
            <a:avLst/>
          </a:prstGeom>
          <a:solidFill>
            <a:srgbClr val="E94560"/>
          </a:solidFill>
          <a:ln w="12700">
            <a:solidFill>
              <a:srgbClr val="E94560"/>
            </a:solidFill>
            <a:prstDash val="solid"/>
          </a:ln>
        </p:spPr>
      </p:sp>
      <p:sp>
        <p:nvSpPr>
          <p:cNvPr id="15" name="Text 13"/>
          <p:cNvSpPr/>
          <p:nvPr/>
        </p:nvSpPr>
        <p:spPr>
          <a:xfrm>
            <a:off x="457200" y="2971800"/>
            <a:ext cx="640080" cy="74980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6" name="Text 14"/>
          <p:cNvSpPr/>
          <p:nvPr/>
        </p:nvSpPr>
        <p:spPr>
          <a:xfrm>
            <a:off x="1188720" y="2971800"/>
            <a:ext cx="7406640" cy="749808"/>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Repair Café-kennis en gebruikerswens worden genegeerd of geblokkeerd</a:t>
            </a:r>
            <a:endParaRPr lang="en-US" sz="1600" dirty="0"/>
          </a:p>
        </p:txBody>
      </p:sp>
      <p:sp>
        <p:nvSpPr>
          <p:cNvPr id="17" name="Shape 15"/>
          <p:cNvSpPr/>
          <p:nvPr/>
        </p:nvSpPr>
        <p:spPr>
          <a:xfrm>
            <a:off x="320040" y="3840480"/>
            <a:ext cx="8503920" cy="749808"/>
          </a:xfrm>
          <a:prstGeom prst="rect">
            <a:avLst/>
          </a:prstGeom>
          <a:solidFill>
            <a:srgbClr val="E8EDF5"/>
          </a:solidFill>
          <a:ln w="12700">
            <a:solidFill>
              <a:srgbClr val="CCCCDD"/>
            </a:solidFill>
            <a:prstDash val="solid"/>
          </a:ln>
        </p:spPr>
      </p:sp>
      <p:sp>
        <p:nvSpPr>
          <p:cNvPr id="18" name="Shape 16"/>
          <p:cNvSpPr/>
          <p:nvPr/>
        </p:nvSpPr>
        <p:spPr>
          <a:xfrm>
            <a:off x="320040" y="3840480"/>
            <a:ext cx="73152" cy="749808"/>
          </a:xfrm>
          <a:prstGeom prst="rect">
            <a:avLst/>
          </a:prstGeom>
          <a:solidFill>
            <a:srgbClr val="E94560"/>
          </a:solidFill>
          <a:ln w="12700">
            <a:solidFill>
              <a:srgbClr val="E94560"/>
            </a:solidFill>
            <a:prstDash val="solid"/>
          </a:ln>
        </p:spPr>
      </p:sp>
      <p:sp>
        <p:nvSpPr>
          <p:cNvPr id="19" name="Text 17"/>
          <p:cNvSpPr/>
          <p:nvPr/>
        </p:nvSpPr>
        <p:spPr>
          <a:xfrm>
            <a:off x="457200" y="3840480"/>
            <a:ext cx="640080" cy="749808"/>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1188720" y="3840480"/>
            <a:ext cx="7406640" cy="749808"/>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Er is nooit een keuze waarbij iedereen tevreden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94560"/>
          </a:solidFill>
          <a:ln w="12700">
            <a:solidFill>
              <a:srgbClr val="E94560"/>
            </a:solidFill>
            <a:prstDash val="solid"/>
          </a:ln>
        </p:spPr>
      </p:sp>
      <p:sp>
        <p:nvSpPr>
          <p:cNvPr id="3" name="Shape 1"/>
          <p:cNvSpPr/>
          <p:nvPr/>
        </p:nvSpPr>
        <p:spPr>
          <a:xfrm>
            <a:off x="274320" y="274320"/>
            <a:ext cx="8686800" cy="0"/>
          </a:xfrm>
          <a:prstGeom prst="line">
            <a:avLst/>
          </a:prstGeom>
          <a:noFill/>
          <a:ln w="3810">
            <a:solidFill>
              <a:srgbClr val="FFFFFF">
                <a:alpha val="12000"/>
              </a:srgbClr>
            </a:solidFill>
            <a:prstDash val="solid"/>
          </a:ln>
        </p:spPr>
      </p:sp>
      <p:sp>
        <p:nvSpPr>
          <p:cNvPr id="4" name="Shape 2"/>
          <p:cNvSpPr/>
          <p:nvPr/>
        </p:nvSpPr>
        <p:spPr>
          <a:xfrm>
            <a:off x="274320" y="914400"/>
            <a:ext cx="8686800" cy="0"/>
          </a:xfrm>
          <a:prstGeom prst="line">
            <a:avLst/>
          </a:prstGeom>
          <a:noFill/>
          <a:ln w="3810">
            <a:solidFill>
              <a:srgbClr val="FFFFFF">
                <a:alpha val="12000"/>
              </a:srgbClr>
            </a:solidFill>
            <a:prstDash val="solid"/>
          </a:ln>
        </p:spPr>
      </p:sp>
      <p:sp>
        <p:nvSpPr>
          <p:cNvPr id="5" name="Shape 3"/>
          <p:cNvSpPr/>
          <p:nvPr/>
        </p:nvSpPr>
        <p:spPr>
          <a:xfrm>
            <a:off x="274320" y="1554480"/>
            <a:ext cx="8686800" cy="0"/>
          </a:xfrm>
          <a:prstGeom prst="line">
            <a:avLst/>
          </a:prstGeom>
          <a:noFill/>
          <a:ln w="3810">
            <a:solidFill>
              <a:srgbClr val="FFFFFF">
                <a:alpha val="12000"/>
              </a:srgbClr>
            </a:solidFill>
            <a:prstDash val="solid"/>
          </a:ln>
        </p:spPr>
      </p:sp>
      <p:sp>
        <p:nvSpPr>
          <p:cNvPr id="6" name="Shape 4"/>
          <p:cNvSpPr/>
          <p:nvPr/>
        </p:nvSpPr>
        <p:spPr>
          <a:xfrm>
            <a:off x="274320" y="2194560"/>
            <a:ext cx="8686800" cy="0"/>
          </a:xfrm>
          <a:prstGeom prst="line">
            <a:avLst/>
          </a:prstGeom>
          <a:noFill/>
          <a:ln w="3810">
            <a:solidFill>
              <a:srgbClr val="FFFFFF">
                <a:alpha val="12000"/>
              </a:srgbClr>
            </a:solidFill>
            <a:prstDash val="solid"/>
          </a:ln>
        </p:spPr>
      </p:sp>
      <p:sp>
        <p:nvSpPr>
          <p:cNvPr id="7" name="Shape 5"/>
          <p:cNvSpPr/>
          <p:nvPr/>
        </p:nvSpPr>
        <p:spPr>
          <a:xfrm>
            <a:off x="274320" y="2834640"/>
            <a:ext cx="8686800" cy="0"/>
          </a:xfrm>
          <a:prstGeom prst="line">
            <a:avLst/>
          </a:prstGeom>
          <a:noFill/>
          <a:ln w="3810">
            <a:solidFill>
              <a:srgbClr val="FFFFFF">
                <a:alpha val="12000"/>
              </a:srgbClr>
            </a:solidFill>
            <a:prstDash val="solid"/>
          </a:ln>
        </p:spPr>
      </p:sp>
      <p:sp>
        <p:nvSpPr>
          <p:cNvPr id="8" name="Shape 6"/>
          <p:cNvSpPr/>
          <p:nvPr/>
        </p:nvSpPr>
        <p:spPr>
          <a:xfrm>
            <a:off x="274320" y="3474720"/>
            <a:ext cx="8686800" cy="0"/>
          </a:xfrm>
          <a:prstGeom prst="line">
            <a:avLst/>
          </a:prstGeom>
          <a:noFill/>
          <a:ln w="3810">
            <a:solidFill>
              <a:srgbClr val="FFFFFF">
                <a:alpha val="12000"/>
              </a:srgbClr>
            </a:solidFill>
            <a:prstDash val="solid"/>
          </a:ln>
        </p:spPr>
      </p:sp>
      <p:sp>
        <p:nvSpPr>
          <p:cNvPr id="9" name="Shape 7"/>
          <p:cNvSpPr/>
          <p:nvPr/>
        </p:nvSpPr>
        <p:spPr>
          <a:xfrm>
            <a:off x="274320" y="4114800"/>
            <a:ext cx="8686800" cy="0"/>
          </a:xfrm>
          <a:prstGeom prst="line">
            <a:avLst/>
          </a:prstGeom>
          <a:noFill/>
          <a:ln w="3810">
            <a:solidFill>
              <a:srgbClr val="FFFFFF">
                <a:alpha val="12000"/>
              </a:srgbClr>
            </a:solidFill>
            <a:prstDash val="solid"/>
          </a:ln>
        </p:spPr>
      </p:sp>
      <p:sp>
        <p:nvSpPr>
          <p:cNvPr id="10" name="Shape 8"/>
          <p:cNvSpPr/>
          <p:nvPr/>
        </p:nvSpPr>
        <p:spPr>
          <a:xfrm>
            <a:off x="274320" y="4754880"/>
            <a:ext cx="8686800" cy="0"/>
          </a:xfrm>
          <a:prstGeom prst="line">
            <a:avLst/>
          </a:prstGeom>
          <a:noFill/>
          <a:ln w="3810">
            <a:solidFill>
              <a:srgbClr val="FFFFFF">
                <a:alpha val="12000"/>
              </a:srgbClr>
            </a:solidFill>
            <a:prstDash val="solid"/>
          </a:ln>
        </p:spPr>
      </p:sp>
      <p:sp>
        <p:nvSpPr>
          <p:cNvPr id="11" name="Text 9"/>
          <p:cNvSpPr/>
          <p:nvPr/>
        </p:nvSpPr>
        <p:spPr>
          <a:xfrm>
            <a:off x="365760" y="548640"/>
            <a:ext cx="8229600" cy="164592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Het prototype geeft</a:t>
            </a:r>
            <a:endParaRPr lang="en-US" sz="3800" dirty="0"/>
          </a:p>
          <a:p>
            <a:pPr indent="0" marL="0">
              <a:buNone/>
            </a:pPr>
            <a:r>
              <a:rPr lang="en-US" sz="3800" b="1" dirty="0">
                <a:solidFill>
                  <a:srgbClr val="FFFFFF"/>
                </a:solidFill>
                <a:latin typeface="Arial Black" pitchFamily="34" charset="0"/>
                <a:ea typeface="Arial Black" pitchFamily="34" charset="-122"/>
                <a:cs typeface="Arial Black" pitchFamily="34" charset="-120"/>
              </a:rPr>
              <a:t>geen antwoord.</a:t>
            </a:r>
            <a:endParaRPr lang="en-US" sz="3800" dirty="0"/>
          </a:p>
        </p:txBody>
      </p:sp>
      <p:sp>
        <p:nvSpPr>
          <p:cNvPr id="12" name="Shape 10"/>
          <p:cNvSpPr/>
          <p:nvPr/>
        </p:nvSpPr>
        <p:spPr>
          <a:xfrm>
            <a:off x="365760" y="2194560"/>
            <a:ext cx="5029200" cy="50292"/>
          </a:xfrm>
          <a:prstGeom prst="rect">
            <a:avLst/>
          </a:prstGeom>
          <a:solidFill>
            <a:srgbClr val="E94560"/>
          </a:solidFill>
          <a:ln w="12700">
            <a:solidFill>
              <a:srgbClr val="E94560"/>
            </a:solidFill>
            <a:prstDash val="solid"/>
          </a:ln>
        </p:spPr>
      </p:sp>
      <p:sp>
        <p:nvSpPr>
          <p:cNvPr id="13" name="Text 11"/>
          <p:cNvSpPr/>
          <p:nvPr/>
        </p:nvSpPr>
        <p:spPr>
          <a:xfrm>
            <a:off x="365760" y="2331720"/>
            <a:ext cx="8229600" cy="731520"/>
          </a:xfrm>
          <a:prstGeom prst="rect">
            <a:avLst/>
          </a:prstGeom>
          <a:noFill/>
          <a:ln/>
        </p:spPr>
        <p:txBody>
          <a:bodyPr wrap="square" lIns="0" tIns="0" rIns="0" bIns="0" rtlCol="0" anchor="ctr"/>
          <a:lstStyle/>
          <a:p>
            <a:pPr indent="0" marL="0">
              <a:buNone/>
            </a:pPr>
            <a:r>
              <a:rPr lang="en-US" sz="3000" b="1" dirty="0">
                <a:solidFill>
                  <a:srgbClr val="E94560"/>
                </a:solidFill>
                <a:latin typeface="Arial Black" pitchFamily="34" charset="0"/>
                <a:ea typeface="Arial Black" pitchFamily="34" charset="-122"/>
                <a:cs typeface="Arial Black" pitchFamily="34" charset="-120"/>
              </a:rPr>
              <a:t>Het stelt een vraag.</a:t>
            </a:r>
            <a:endParaRPr lang="en-US" sz="3000" dirty="0"/>
          </a:p>
        </p:txBody>
      </p:sp>
      <p:sp>
        <p:nvSpPr>
          <p:cNvPr id="14" name="Text 12"/>
          <p:cNvSpPr/>
          <p:nvPr/>
        </p:nvSpPr>
        <p:spPr>
          <a:xfrm>
            <a:off x="365760" y="3154680"/>
            <a:ext cx="8229600" cy="1188720"/>
          </a:xfrm>
          <a:prstGeom prst="rect">
            <a:avLst/>
          </a:prstGeom>
          <a:noFill/>
          <a:ln/>
        </p:spPr>
        <p:txBody>
          <a:bodyPr wrap="square" lIns="0" tIns="0" rIns="0" bIns="0" rtlCol="0" anchor="ctr"/>
          <a:lstStyle/>
          <a:p>
            <a:pPr indent="0" marL="0">
              <a:buNone/>
            </a:pPr>
            <a:r>
              <a:rPr lang="en-US" sz="1600" i="1" dirty="0">
                <a:solidFill>
                  <a:srgbClr val="A0A0B0"/>
                </a:solidFill>
                <a:latin typeface="Calibri" pitchFamily="34" charset="0"/>
                <a:ea typeface="Calibri" pitchFamily="34" charset="-122"/>
                <a:cs typeface="Calibri" pitchFamily="34" charset="-120"/>
              </a:rPr>
              <a:t>Wie beslist wat goede zorg voor een apparaat is —</a:t>
            </a:r>
            <a:endParaRPr lang="en-US" sz="1600" dirty="0"/>
          </a:p>
          <a:p>
            <a:pPr indent="0" marL="0">
              <a:buNone/>
            </a:pPr>
            <a:r>
              <a:rPr lang="en-US" sz="1600" i="1" dirty="0">
                <a:solidFill>
                  <a:srgbClr val="A0A0B0"/>
                </a:solidFill>
                <a:latin typeface="Calibri" pitchFamily="34" charset="0"/>
                <a:ea typeface="Calibri" pitchFamily="34" charset="-122"/>
                <a:cs typeface="Calibri" pitchFamily="34" charset="-120"/>
              </a:rPr>
              <a:t>de gebruiker, de reparateur, de fabrikant, of het apparaat zelf?</a:t>
            </a:r>
            <a:endParaRPr lang="en-US" sz="1600" dirty="0"/>
          </a:p>
        </p:txBody>
      </p:sp>
      <p:sp>
        <p:nvSpPr>
          <p:cNvPr id="15" name="Text 13"/>
          <p:cNvSpPr/>
          <p:nvPr/>
        </p:nvSpPr>
        <p:spPr>
          <a:xfrm>
            <a:off x="365760" y="4663440"/>
            <a:ext cx="8229600" cy="320040"/>
          </a:xfrm>
          <a:prstGeom prst="rect">
            <a:avLst/>
          </a:prstGeom>
          <a:noFill/>
          <a:ln/>
        </p:spPr>
        <p:txBody>
          <a:bodyPr wrap="square" lIns="0" tIns="0" rIns="0" bIns="0" rtlCol="0" anchor="ctr"/>
          <a:lstStyle/>
          <a:p>
            <a:pPr indent="0" marL="0">
              <a:buNone/>
            </a:pPr>
            <a:r>
              <a:rPr lang="en-US" sz="1100" dirty="0">
                <a:solidFill>
                  <a:srgbClr val="666688"/>
                </a:solidFill>
                <a:latin typeface="Calibri" pitchFamily="34" charset="0"/>
                <a:ea typeface="Calibri" pitchFamily="34" charset="-122"/>
                <a:cs typeface="Calibri" pitchFamily="34" charset="-120"/>
              </a:rPr>
              <a:t>Repair Balance Board  ·  Jerri  ·  Repairability &amp; Trust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Repair Balance Board</dc:title>
  <dc:subject>PptxGenJS Presentation</dc:subject>
  <dc:creator>PptxGenJS</dc:creator>
  <cp:lastModifiedBy>PptxGenJS</cp:lastModifiedBy>
  <cp:revision>1</cp:revision>
  <dcterms:created xsi:type="dcterms:W3CDTF">2026-03-11T17:43:55Z</dcterms:created>
  <dcterms:modified xsi:type="dcterms:W3CDTF">2026-03-11T17:43:55Z</dcterms:modified>
</cp:coreProperties>
</file>